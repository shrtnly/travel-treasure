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A345A"/>
    <a:srgbClr val="E9B1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82"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966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Travel Treasure is a Dhaka-based, IATA-accredited travel agency founded in 2014. Emphasize that this profile covers who we are, what we offer, and why clients trust 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customer-centric origin story. Highlight team size, multi-GDS capability, and the philosophy that each client is a guest, not a booking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mission as customer-first, vision as ambition to be Bangladesh's most trusted travel partner. Both should feel human, not corporate.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six core service categories. Emphasize multi-GDS for online booking and the corporate-grade depth of foreign dollar endorsement service.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Premium offerings set us apart. Especially highlight VIP Airport Assistance and 24/7 WhatsApp Fast Response — these are the touchpoints clients mention most.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airline partners — flag the strong Bangladesh connectivity (Biman, US-Bangla, Novoair) and global reach (Emirates, Qatar, Singapore, Cathay, Turkish).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Showcase client roster. Note that BRAC Bank and Bank Asia are tier-1 local banks; Chinese Group and Dekko Group reflect multinational/corporate reach.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6-step process. Emphasize that step 5 (Travel Support) is 24/7, and step 6 (Safe Return) is the human touch that keeps clients coming back.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IATA accreditation is our most important credential — it signals global competence. Leadership is hands-on: CEO drives strategy, MD drives daily operations.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9C810-911C-4FC4-8659-67A426805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75DB2-66C9-2795-3572-5D2D1966D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811CA-EDA5-12F5-ED46-6021522E3238}"/>
              </a:ext>
            </a:extLst>
          </p:cNvPr>
          <p:cNvSpPr>
            <a:spLocks noGrp="1"/>
          </p:cNvSpPr>
          <p:nvPr>
            <p:ph type="body" idx="1"/>
          </p:nvPr>
        </p:nvSpPr>
        <p:spPr/>
        <p:txBody>
          <a:bodyPr/>
          <a:lstStyle/>
          <a:p>
            <a:r>
              <a:rPr lang="en-US" dirty="0"/>
              <a:t>IATA accreditation is our most important credential — it signals global competence. Leadership is hands-on: CEO drives strategy, MD drives daily operations.</a:t>
            </a:r>
          </a:p>
        </p:txBody>
      </p:sp>
      <p:sp>
        <p:nvSpPr>
          <p:cNvPr id="4" name="Slide Number Placeholder 3">
            <a:extLst>
              <a:ext uri="{FF2B5EF4-FFF2-40B4-BE49-F238E27FC236}">
                <a16:creationId xmlns:a16="http://schemas.microsoft.com/office/drawing/2014/main" id="{23F0C7CB-D0A8-3C91-51C8-A1E5694F288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00853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contact info. Encourage the audience to reach out via WhatsApp or call for any travel need — small or large.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sv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537"/>
          </a:solidFill>
          <a:ln w="12700">
            <a:solidFill>
              <a:srgbClr val="D4A537"/>
            </a:solidFill>
            <a:prstDash val="solid"/>
          </a:ln>
        </p:spPr>
      </p:sp>
      <p:sp>
        <p:nvSpPr>
          <p:cNvPr id="3" name="Shape 1"/>
          <p:cNvSpPr/>
          <p:nvPr/>
        </p:nvSpPr>
        <p:spPr>
          <a:xfrm>
            <a:off x="6461441" y="2365829"/>
            <a:ext cx="2591119" cy="2754811"/>
          </a:xfrm>
          <a:prstGeom prst="ellipse">
            <a:avLst/>
          </a:prstGeom>
          <a:solidFill>
            <a:srgbClr val="2A345A"/>
          </a:solidFill>
          <a:ln/>
        </p:spPr>
      </p:sp>
      <p:pic>
        <p:nvPicPr>
          <p:cNvPr id="5" name="Image 0" descr="/home/z/my-project/travel_treasure/assets/logo.png"/>
          <p:cNvPicPr>
            <a:picLocks noChangeAspect="1"/>
          </p:cNvPicPr>
          <p:nvPr/>
        </p:nvPicPr>
        <p:blipFill>
          <a:blip r:embed="rId3"/>
          <a:stretch>
            <a:fillRect/>
          </a:stretch>
        </p:blipFill>
        <p:spPr>
          <a:xfrm>
            <a:off x="3200400" y="914400"/>
            <a:ext cx="2743200" cy="1828800"/>
          </a:xfrm>
          <a:prstGeom prst="rect">
            <a:avLst/>
          </a:prstGeom>
        </p:spPr>
      </p:pic>
      <p:sp>
        <p:nvSpPr>
          <p:cNvPr id="6" name="Text 3"/>
          <p:cNvSpPr/>
          <p:nvPr/>
        </p:nvSpPr>
        <p:spPr>
          <a:xfrm>
            <a:off x="529772" y="2248119"/>
            <a:ext cx="8229600" cy="457200"/>
          </a:xfrm>
          <a:prstGeom prst="rect">
            <a:avLst/>
          </a:prstGeom>
          <a:noFill/>
          <a:ln/>
        </p:spPr>
        <p:txBody>
          <a:bodyPr wrap="square" rtlCol="0" anchor="ctr">
            <a:normAutofit/>
          </a:bodyPr>
          <a:lstStyle/>
          <a:p>
            <a:pPr marL="0" indent="0" algn="ctr">
              <a:buNone/>
            </a:pPr>
            <a:r>
              <a:rPr lang="en-US" sz="1400" i="1" kern="0" spc="300" dirty="0">
                <a:solidFill>
                  <a:srgbClr val="E9B13E"/>
                </a:solidFill>
                <a:latin typeface="Cambria" pitchFamily="34" charset="0"/>
                <a:ea typeface="Cambria" pitchFamily="34" charset="-122"/>
                <a:cs typeface="Cambria" pitchFamily="34" charset="-120"/>
              </a:rPr>
              <a:t>Your Journey, Our Priority</a:t>
            </a:r>
            <a:endParaRPr lang="en-US" sz="1400" spc="300" dirty="0">
              <a:solidFill>
                <a:srgbClr val="E9B13E"/>
              </a:solidFill>
            </a:endParaRPr>
          </a:p>
        </p:txBody>
      </p:sp>
      <p:sp>
        <p:nvSpPr>
          <p:cNvPr id="7" name="Text 4"/>
          <p:cNvSpPr/>
          <p:nvPr/>
        </p:nvSpPr>
        <p:spPr>
          <a:xfrm>
            <a:off x="2960915" y="3027317"/>
            <a:ext cx="3367314" cy="320040"/>
          </a:xfrm>
          <a:prstGeom prst="rect">
            <a:avLst/>
          </a:prstGeom>
          <a:solidFill>
            <a:srgbClr val="E9B13E"/>
          </a:solidFill>
          <a:ln/>
        </p:spPr>
        <p:txBody>
          <a:bodyPr wrap="square" rtlCol="0" anchor="ctr"/>
          <a:lstStyle/>
          <a:p>
            <a:pPr marL="0" indent="0" algn="ctr">
              <a:buNone/>
            </a:pPr>
            <a:r>
              <a:rPr lang="en-US" sz="1300" b="1" kern="0" spc="300" dirty="0">
                <a:latin typeface="Calibri" pitchFamily="34" charset="0"/>
                <a:ea typeface="Calibri" pitchFamily="34" charset="-122"/>
                <a:cs typeface="Calibri" pitchFamily="34" charset="-120"/>
              </a:rPr>
              <a:t>COMPANY PROFILE  ·  2026</a:t>
            </a:r>
            <a:endParaRPr lang="en-US" sz="1300" spc="300" dirty="0"/>
          </a:p>
        </p:txBody>
      </p:sp>
      <p:sp>
        <p:nvSpPr>
          <p:cNvPr id="8" name="Shape 5"/>
          <p:cNvSpPr/>
          <p:nvPr/>
        </p:nvSpPr>
        <p:spPr>
          <a:xfrm>
            <a:off x="0" y="4572000"/>
            <a:ext cx="9144000" cy="571500"/>
          </a:xfrm>
          <a:prstGeom prst="rect">
            <a:avLst/>
          </a:prstGeom>
          <a:solidFill>
            <a:srgbClr val="061731"/>
          </a:solidFill>
          <a:ln/>
        </p:spPr>
      </p:sp>
      <p:sp>
        <p:nvSpPr>
          <p:cNvPr id="9" name="Text 6"/>
          <p:cNvSpPr/>
          <p:nvPr/>
        </p:nvSpPr>
        <p:spPr>
          <a:xfrm>
            <a:off x="457200" y="4572000"/>
            <a:ext cx="8229600" cy="571500"/>
          </a:xfrm>
          <a:prstGeom prst="rect">
            <a:avLst/>
          </a:prstGeom>
          <a:noFill/>
          <a:ln/>
        </p:spPr>
        <p:txBody>
          <a:bodyPr wrap="square" rtlCol="0" anchor="ctr">
            <a:normAutofit/>
          </a:bodyPr>
          <a:lstStyle/>
          <a:p>
            <a:pPr algn="ctr"/>
            <a:r>
              <a:rPr lang="en-US" sz="1200" i="1" dirty="0">
                <a:solidFill>
                  <a:srgbClr val="E9B13E"/>
                </a:solidFill>
                <a:latin typeface="Cambria" panose="02040503050406030204" pitchFamily="34" charset="0"/>
                <a:ea typeface="Cambria" panose="02040503050406030204" pitchFamily="34" charset="-122"/>
                <a:cs typeface="Cambria" panose="02040503050406030204" pitchFamily="34" charset="-120"/>
              </a:rPr>
              <a:t>Corporate Travel &amp; Visa Management</a:t>
            </a:r>
            <a:endParaRPr lang="en-US" sz="1200" dirty="0">
              <a:solidFill>
                <a:srgbClr val="E9B13E"/>
              </a:solidFill>
            </a:endParaRPr>
          </a:p>
        </p:txBody>
      </p:sp>
      <p:pic>
        <p:nvPicPr>
          <p:cNvPr id="10" name="Image 0" descr="assets/plane_gold.png">
            <a:extLst>
              <a:ext uri="{FF2B5EF4-FFF2-40B4-BE49-F238E27FC236}">
                <a16:creationId xmlns:a16="http://schemas.microsoft.com/office/drawing/2014/main" id="{25D757B8-6F8D-ABFD-B388-56AC86D86300}"/>
              </a:ext>
            </a:extLst>
          </p:cNvPr>
          <p:cNvPicPr>
            <a:picLocks noChangeAspect="1"/>
          </p:cNvPicPr>
          <p:nvPr/>
        </p:nvPicPr>
        <p:blipFill>
          <a:blip r:embed="rId4">
            <a:alphaModFix amt="22000"/>
          </a:blip>
          <a:stretch>
            <a:fillRect/>
          </a:stretch>
        </p:blipFill>
        <p:spPr>
          <a:xfrm>
            <a:off x="6562316" y="2358071"/>
            <a:ext cx="2499679" cy="24996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540"/>
          </a:solidFill>
          <a:ln/>
        </p:spPr>
      </p:sp>
      <p:sp>
        <p:nvSpPr>
          <p:cNvPr id="3" name="Shape 1"/>
          <p:cNvSpPr/>
          <p:nvPr/>
        </p:nvSpPr>
        <p:spPr>
          <a:xfrm>
            <a:off x="0" y="1005840"/>
            <a:ext cx="9144000" cy="36576"/>
          </a:xfrm>
          <a:prstGeom prst="rect">
            <a:avLst/>
          </a:prstGeom>
          <a:solidFill>
            <a:srgbClr val="D4A537"/>
          </a:solidFill>
          <a:ln/>
        </p:spPr>
      </p:sp>
      <p:sp>
        <p:nvSpPr>
          <p:cNvPr id="4" name="Text 2"/>
          <p:cNvSpPr/>
          <p:nvPr/>
        </p:nvSpPr>
        <p:spPr>
          <a:xfrm>
            <a:off x="548640" y="274320"/>
            <a:ext cx="5486400" cy="411480"/>
          </a:xfrm>
          <a:prstGeom prst="rect">
            <a:avLst/>
          </a:prstGeom>
          <a:noFill/>
          <a:ln/>
        </p:spPr>
        <p:txBody>
          <a:bodyPr wrap="square" rtlCol="0" anchor="ctr">
            <a:normAutofit fontScale="85000" lnSpcReduction="20000"/>
          </a:bodyPr>
          <a:lstStyle/>
          <a:p>
            <a:pPr marL="0" indent="0">
              <a:buNone/>
            </a:pPr>
            <a:r>
              <a:rPr lang="en-US" sz="2800" b="1" kern="0" spc="400" dirty="0">
                <a:solidFill>
                  <a:srgbClr val="FFFFFF"/>
                </a:solidFill>
                <a:latin typeface="Cambria" pitchFamily="34" charset="0"/>
                <a:ea typeface="Cambria" pitchFamily="34" charset="-122"/>
                <a:cs typeface="Cambria" pitchFamily="34" charset="-120"/>
              </a:rPr>
              <a:t>ABOUT US</a:t>
            </a:r>
            <a:endParaRPr lang="en-US" sz="2800" dirty="0"/>
          </a:p>
        </p:txBody>
      </p:sp>
      <p:sp>
        <p:nvSpPr>
          <p:cNvPr id="5" name="Text 3"/>
          <p:cNvSpPr/>
          <p:nvPr/>
        </p:nvSpPr>
        <p:spPr>
          <a:xfrm>
            <a:off x="548640" y="749808"/>
            <a:ext cx="54864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WHO WE ARE</a:t>
            </a:r>
            <a:endParaRPr lang="en-US" sz="1000" dirty="0"/>
          </a:p>
        </p:txBody>
      </p:sp>
      <p:sp>
        <p:nvSpPr>
          <p:cNvPr id="6" name="Text 4"/>
          <p:cNvSpPr/>
          <p:nvPr/>
        </p:nvSpPr>
        <p:spPr>
          <a:xfrm>
            <a:off x="560526" y="1871315"/>
            <a:ext cx="4795968" cy="914400"/>
          </a:xfrm>
          <a:prstGeom prst="rect">
            <a:avLst/>
          </a:prstGeom>
          <a:noFill/>
          <a:ln/>
        </p:spPr>
        <p:txBody>
          <a:bodyPr wrap="square" rtlCol="0" anchor="t">
            <a:noAutofit/>
          </a:bodyPr>
          <a:lstStyle/>
          <a:p>
            <a:pPr algn="just">
              <a:spcAft>
                <a:spcPts val="600"/>
              </a:spcAft>
            </a:pPr>
            <a:r>
              <a:rPr lang="en-US" sz="1400" dirty="0"/>
              <a:t>At </a:t>
            </a:r>
            <a:r>
              <a:rPr lang="en-US" sz="1400" b="1" dirty="0"/>
              <a:t>Travel Treasure</a:t>
            </a:r>
            <a:r>
              <a:rPr lang="en-US" sz="1400" dirty="0"/>
              <a:t>, we make travel simple, comfortable, and personal. Since our journey began, we’ve helped individuals, families, and businesses travel with confidence through trusted service and expert guidance.</a:t>
            </a:r>
          </a:p>
        </p:txBody>
      </p:sp>
      <p:sp>
        <p:nvSpPr>
          <p:cNvPr id="7" name="Text 5"/>
          <p:cNvSpPr/>
          <p:nvPr/>
        </p:nvSpPr>
        <p:spPr>
          <a:xfrm>
            <a:off x="547110" y="3067024"/>
            <a:ext cx="4795968" cy="914400"/>
          </a:xfrm>
          <a:prstGeom prst="rect">
            <a:avLst/>
          </a:prstGeom>
          <a:noFill/>
          <a:ln/>
        </p:spPr>
        <p:txBody>
          <a:bodyPr wrap="square" rtlCol="0" anchor="t">
            <a:noAutofit/>
          </a:bodyPr>
          <a:lstStyle/>
          <a:p>
            <a:pPr algn="just">
              <a:spcAft>
                <a:spcPts val="600"/>
              </a:spcAft>
            </a:pPr>
            <a:r>
              <a:rPr lang="en-US" sz="1400" dirty="0"/>
              <a:t>Backed by a dedicated team of </a:t>
            </a:r>
            <a:r>
              <a:rPr lang="en-US" sz="1400" b="1" dirty="0"/>
              <a:t>15–20 travel professionals</a:t>
            </a:r>
            <a:r>
              <a:rPr lang="en-US" sz="1400" dirty="0"/>
              <a:t>, </a:t>
            </a:r>
            <a:r>
              <a:rPr lang="en-US" sz="1400" b="1" dirty="0"/>
              <a:t>multi-GDS connectivity</a:t>
            </a:r>
            <a:r>
              <a:rPr lang="en-US" sz="1400" dirty="0"/>
              <a:t>, and partnerships with </a:t>
            </a:r>
            <a:r>
              <a:rPr lang="en-US" sz="1400" b="1" dirty="0"/>
              <a:t>leading airlines</a:t>
            </a:r>
            <a:r>
              <a:rPr lang="en-US" sz="1400" dirty="0"/>
              <a:t>, we deliver competitive fares, flexible options, and reliable travel solutions.</a:t>
            </a:r>
          </a:p>
        </p:txBody>
      </p:sp>
      <p:sp>
        <p:nvSpPr>
          <p:cNvPr id="26" name="Rectangle 25">
            <a:extLst>
              <a:ext uri="{FF2B5EF4-FFF2-40B4-BE49-F238E27FC236}">
                <a16:creationId xmlns:a16="http://schemas.microsoft.com/office/drawing/2014/main" id="{9C55BDF2-34CE-54A8-1620-9F8AED1B0411}"/>
              </a:ext>
            </a:extLst>
          </p:cNvPr>
          <p:cNvSpPr/>
          <p:nvPr/>
        </p:nvSpPr>
        <p:spPr>
          <a:xfrm>
            <a:off x="5464629" y="1362456"/>
            <a:ext cx="3349897" cy="3506724"/>
          </a:xfrm>
          <a:prstGeom prst="rect">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txBody>
          <a:bodyPr rtlCol="0" anchor="ctr"/>
          <a:lstStyle/>
          <a:p>
            <a:endParaRPr lang="en-US" dirty="0"/>
          </a:p>
        </p:txBody>
      </p:sp>
      <p:pic>
        <p:nvPicPr>
          <p:cNvPr id="28" name="Graphic 27" descr="Marker">
            <a:extLst>
              <a:ext uri="{FF2B5EF4-FFF2-40B4-BE49-F238E27FC236}">
                <a16:creationId xmlns:a16="http://schemas.microsoft.com/office/drawing/2014/main" id="{FF88165A-449A-BE04-8E6D-6A404A1FE0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9287" y="1362455"/>
            <a:ext cx="591227" cy="508859"/>
          </a:xfrm>
          <a:prstGeom prst="rect">
            <a:avLst/>
          </a:prstGeom>
        </p:spPr>
      </p:pic>
      <p:sp>
        <p:nvSpPr>
          <p:cNvPr id="29" name="Text 12">
            <a:extLst>
              <a:ext uri="{FF2B5EF4-FFF2-40B4-BE49-F238E27FC236}">
                <a16:creationId xmlns:a16="http://schemas.microsoft.com/office/drawing/2014/main" id="{228475EC-0568-1028-DF63-319E04107C09}"/>
              </a:ext>
            </a:extLst>
          </p:cNvPr>
          <p:cNvSpPr/>
          <p:nvPr/>
        </p:nvSpPr>
        <p:spPr>
          <a:xfrm>
            <a:off x="6244774" y="1729014"/>
            <a:ext cx="1783080" cy="457200"/>
          </a:xfrm>
          <a:prstGeom prst="rect">
            <a:avLst/>
          </a:prstGeom>
          <a:noFill/>
          <a:ln/>
        </p:spPr>
        <p:txBody>
          <a:bodyPr wrap="square" rtlCol="0" anchor="ctr">
            <a:normAutofit/>
          </a:bodyPr>
          <a:lstStyle/>
          <a:p>
            <a:pPr marL="0" indent="0" algn="l">
              <a:buNone/>
            </a:pPr>
            <a:r>
              <a:rPr lang="en-US" b="1" dirty="0">
                <a:solidFill>
                  <a:srgbClr val="2A345A"/>
                </a:solidFill>
                <a:latin typeface="Cambria" pitchFamily="34" charset="0"/>
                <a:ea typeface="Cambria" pitchFamily="34" charset="-122"/>
                <a:cs typeface="Cambria" pitchFamily="34" charset="-120"/>
              </a:rPr>
              <a:t>Office Location</a:t>
            </a:r>
            <a:endParaRPr lang="en-US" dirty="0">
              <a:solidFill>
                <a:srgbClr val="2A345A"/>
              </a:solidFill>
            </a:endParaRPr>
          </a:p>
        </p:txBody>
      </p:sp>
      <p:sp>
        <p:nvSpPr>
          <p:cNvPr id="30" name="Text 16">
            <a:extLst>
              <a:ext uri="{FF2B5EF4-FFF2-40B4-BE49-F238E27FC236}">
                <a16:creationId xmlns:a16="http://schemas.microsoft.com/office/drawing/2014/main" id="{D0939BDF-5927-A169-537F-B1DC90A9CFAB}"/>
              </a:ext>
            </a:extLst>
          </p:cNvPr>
          <p:cNvSpPr/>
          <p:nvPr/>
        </p:nvSpPr>
        <p:spPr>
          <a:xfrm>
            <a:off x="6140269" y="2117634"/>
            <a:ext cx="2674257" cy="1554480"/>
          </a:xfrm>
          <a:prstGeom prst="rect">
            <a:avLst/>
          </a:prstGeom>
          <a:noFill/>
        </p:spPr>
        <p:txBody>
          <a:bodyPr wrap="square" lIns="0" tIns="0" rIns="0" bIns="0" rtlCol="0" anchor="ctr"/>
          <a:lstStyle/>
          <a:p>
            <a:pPr marL="0" indent="0">
              <a:lnSpc>
                <a:spcPct val="135000"/>
              </a:lnSpc>
              <a:buNone/>
            </a:pPr>
            <a:endParaRPr lang="en-US" sz="1800" dirty="0">
              <a:latin typeface="Cambria" panose="02040503050406030204" pitchFamily="18" charset="0"/>
              <a:ea typeface="Cambria" panose="02040503050406030204" pitchFamily="18" charset="0"/>
            </a:endParaRPr>
          </a:p>
        </p:txBody>
      </p:sp>
      <p:sp>
        <p:nvSpPr>
          <p:cNvPr id="31" name="Text 9">
            <a:extLst>
              <a:ext uri="{FF2B5EF4-FFF2-40B4-BE49-F238E27FC236}">
                <a16:creationId xmlns:a16="http://schemas.microsoft.com/office/drawing/2014/main" id="{9CE0E0B0-E2A2-C634-0EF8-58CCE53F0ED3}"/>
              </a:ext>
            </a:extLst>
          </p:cNvPr>
          <p:cNvSpPr/>
          <p:nvPr/>
        </p:nvSpPr>
        <p:spPr>
          <a:xfrm>
            <a:off x="5695413" y="2193437"/>
            <a:ext cx="3013606" cy="877762"/>
          </a:xfrm>
          <a:prstGeom prst="rect">
            <a:avLst/>
          </a:prstGeom>
          <a:noFill/>
          <a:ln/>
        </p:spPr>
        <p:txBody>
          <a:bodyPr wrap="square" rtlCol="0" anchor="t">
            <a:normAutofit/>
          </a:bodyPr>
          <a:lstStyle/>
          <a:p>
            <a:r>
              <a:rPr lang="en-US" sz="1600" dirty="0">
                <a:latin typeface="Calibri (Body)"/>
                <a:ea typeface="Calibri" pitchFamily="34" charset="-122"/>
                <a:cs typeface="Calibri" pitchFamily="34" charset="-120"/>
              </a:rPr>
              <a:t>Mohammad Ali Tower, 4</a:t>
            </a:r>
            <a:r>
              <a:rPr lang="en-US" sz="1600" baseline="30000" dirty="0">
                <a:latin typeface="Calibri (Body)"/>
                <a:ea typeface="Calibri" pitchFamily="34" charset="-122"/>
                <a:cs typeface="Calibri" pitchFamily="34" charset="-120"/>
              </a:rPr>
              <a:t>th  </a:t>
            </a:r>
            <a:r>
              <a:rPr lang="en-US" sz="1600" dirty="0">
                <a:latin typeface="Calibri (Body)"/>
                <a:ea typeface="Calibri" pitchFamily="34" charset="-122"/>
                <a:cs typeface="Calibri" pitchFamily="34" charset="-120"/>
              </a:rPr>
              <a:t>Floor,      Road 4, Block A, Section 11, </a:t>
            </a:r>
            <a:endParaRPr lang="en-US" sz="1600" dirty="0">
              <a:latin typeface="Calibri (Body)"/>
            </a:endParaRPr>
          </a:p>
          <a:p>
            <a:pPr marL="0" indent="0">
              <a:buNone/>
            </a:pPr>
            <a:r>
              <a:rPr lang="en-US" sz="1600" dirty="0">
                <a:latin typeface="Calibri (Body)"/>
                <a:ea typeface="Calibri" pitchFamily="34" charset="-122"/>
                <a:cs typeface="Calibri" pitchFamily="34" charset="-120"/>
              </a:rPr>
              <a:t>Dhaka-1216, Bangladesh</a:t>
            </a:r>
            <a:endParaRPr lang="en-US" sz="1600" dirty="0">
              <a:latin typeface="Calibri (Body)"/>
            </a:endParaRPr>
          </a:p>
        </p:txBody>
      </p:sp>
      <p:sp>
        <p:nvSpPr>
          <p:cNvPr id="13" name="Shape 11"/>
          <p:cNvSpPr/>
          <p:nvPr/>
        </p:nvSpPr>
        <p:spPr>
          <a:xfrm>
            <a:off x="5680898" y="3447720"/>
            <a:ext cx="1417320" cy="1234440"/>
          </a:xfrm>
          <a:prstGeom prst="roundRect">
            <a:avLst>
              <a:gd name="adj" fmla="val 5926"/>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15" name="Text 13"/>
          <p:cNvSpPr/>
          <p:nvPr/>
        </p:nvSpPr>
        <p:spPr>
          <a:xfrm>
            <a:off x="5680898" y="4124376"/>
            <a:ext cx="1417320" cy="228600"/>
          </a:xfrm>
          <a:prstGeom prst="rect">
            <a:avLst/>
          </a:prstGeom>
          <a:noFill/>
          <a:ln/>
        </p:spPr>
        <p:txBody>
          <a:bodyPr wrap="square" rtlCol="0" anchor="ctr"/>
          <a:lstStyle/>
          <a:p>
            <a:pPr algn="ctr"/>
            <a:r>
              <a:rPr lang="en-US" sz="1100" b="1" dirty="0">
                <a:solidFill>
                  <a:srgbClr val="1A2533"/>
                </a:solidFill>
                <a:latin typeface="Calibri" pitchFamily="34" charset="0"/>
                <a:ea typeface="Calibri" pitchFamily="34" charset="-122"/>
                <a:cs typeface="Calibri" pitchFamily="34" charset="-120"/>
              </a:rPr>
              <a:t>IATA Accredited</a:t>
            </a:r>
          </a:p>
        </p:txBody>
      </p:sp>
      <p:sp>
        <p:nvSpPr>
          <p:cNvPr id="16" name="Text 14"/>
          <p:cNvSpPr/>
          <p:nvPr/>
        </p:nvSpPr>
        <p:spPr>
          <a:xfrm>
            <a:off x="5680898" y="4343832"/>
            <a:ext cx="1417320" cy="228600"/>
          </a:xfrm>
          <a:prstGeom prst="rect">
            <a:avLst/>
          </a:prstGeom>
          <a:noFill/>
          <a:ln/>
        </p:spPr>
        <p:txBody>
          <a:bodyPr wrap="square" rtlCol="0" anchor="ctr"/>
          <a:lstStyle/>
          <a:p>
            <a:pPr algn="ctr"/>
            <a:r>
              <a:rPr lang="en-US" sz="900" dirty="0">
                <a:solidFill>
                  <a:srgbClr val="5B6B7F"/>
                </a:solidFill>
                <a:latin typeface="Calibri" pitchFamily="34" charset="0"/>
                <a:ea typeface="Calibri" pitchFamily="34" charset="-122"/>
                <a:cs typeface="Calibri" pitchFamily="34" charset="-120"/>
              </a:rPr>
              <a:t>Travel agents</a:t>
            </a:r>
            <a:endParaRPr lang="en-US" sz="900" dirty="0"/>
          </a:p>
        </p:txBody>
      </p:sp>
      <p:grpSp>
        <p:nvGrpSpPr>
          <p:cNvPr id="33" name="Group 32">
            <a:extLst>
              <a:ext uri="{FF2B5EF4-FFF2-40B4-BE49-F238E27FC236}">
                <a16:creationId xmlns:a16="http://schemas.microsoft.com/office/drawing/2014/main" id="{FDC55127-F429-6080-ACEA-CCB476D32815}"/>
              </a:ext>
            </a:extLst>
          </p:cNvPr>
          <p:cNvGrpSpPr/>
          <p:nvPr/>
        </p:nvGrpSpPr>
        <p:grpSpPr>
          <a:xfrm>
            <a:off x="7219412" y="3440463"/>
            <a:ext cx="1417320" cy="1234440"/>
            <a:chOff x="2828254" y="2894874"/>
            <a:chExt cx="1417320" cy="1234440"/>
          </a:xfrm>
        </p:grpSpPr>
        <p:sp>
          <p:nvSpPr>
            <p:cNvPr id="21" name="Shape 19"/>
            <p:cNvSpPr/>
            <p:nvPr/>
          </p:nvSpPr>
          <p:spPr>
            <a:xfrm>
              <a:off x="2828254" y="2894874"/>
              <a:ext cx="1417320" cy="1234440"/>
            </a:xfrm>
            <a:prstGeom prst="roundRect">
              <a:avLst>
                <a:gd name="adj" fmla="val 5926"/>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22" name="Text 20"/>
            <p:cNvSpPr/>
            <p:nvPr/>
          </p:nvSpPr>
          <p:spPr>
            <a:xfrm>
              <a:off x="2828254" y="3096042"/>
              <a:ext cx="1417320" cy="457200"/>
            </a:xfrm>
            <a:prstGeom prst="rect">
              <a:avLst/>
            </a:prstGeom>
            <a:noFill/>
            <a:ln/>
          </p:spPr>
          <p:txBody>
            <a:bodyPr wrap="square" rtlCol="0" anchor="ctr">
              <a:normAutofit/>
            </a:bodyPr>
            <a:lstStyle/>
            <a:p>
              <a:pPr marL="0" indent="0" algn="ctr">
                <a:buNone/>
              </a:pPr>
              <a:r>
                <a:rPr lang="en-US" sz="1800" b="1" dirty="0">
                  <a:solidFill>
                    <a:srgbClr val="0E5C8A"/>
                  </a:solidFill>
                  <a:latin typeface="Cambria" pitchFamily="34" charset="0"/>
                  <a:ea typeface="Cambria" pitchFamily="34" charset="-122"/>
                  <a:cs typeface="Cambria" pitchFamily="34" charset="-120"/>
                </a:rPr>
                <a:t>Multi-GDS</a:t>
              </a:r>
              <a:endParaRPr lang="en-US" sz="1800" dirty="0"/>
            </a:p>
          </p:txBody>
        </p:sp>
        <p:sp>
          <p:nvSpPr>
            <p:cNvPr id="23" name="Text 21"/>
            <p:cNvSpPr/>
            <p:nvPr/>
          </p:nvSpPr>
          <p:spPr>
            <a:xfrm>
              <a:off x="2828254" y="3571530"/>
              <a:ext cx="1417320" cy="228600"/>
            </a:xfrm>
            <a:prstGeom prst="rect">
              <a:avLst/>
            </a:prstGeom>
            <a:noFill/>
            <a:ln/>
          </p:spPr>
          <p:txBody>
            <a:bodyPr wrap="square" rtlCol="0" anchor="ctr"/>
            <a:lstStyle/>
            <a:p>
              <a:pPr marL="0" indent="0" algn="ctr">
                <a:buNone/>
              </a:pPr>
              <a:r>
                <a:rPr lang="en-US" sz="1100" b="1" dirty="0">
                  <a:solidFill>
                    <a:srgbClr val="1A2533"/>
                  </a:solidFill>
                  <a:latin typeface="Calibri" pitchFamily="34" charset="0"/>
                  <a:ea typeface="Calibri" pitchFamily="34" charset="-122"/>
                  <a:cs typeface="Calibri" pitchFamily="34" charset="-120"/>
                </a:rPr>
                <a:t>Connectivity</a:t>
              </a:r>
              <a:endParaRPr lang="en-US" sz="1100" dirty="0"/>
            </a:p>
          </p:txBody>
        </p:sp>
        <p:sp>
          <p:nvSpPr>
            <p:cNvPr id="24" name="Text 22"/>
            <p:cNvSpPr/>
            <p:nvPr/>
          </p:nvSpPr>
          <p:spPr>
            <a:xfrm>
              <a:off x="2828254" y="3790986"/>
              <a:ext cx="1417320" cy="228600"/>
            </a:xfrm>
            <a:prstGeom prst="rect">
              <a:avLst/>
            </a:prstGeom>
            <a:noFill/>
            <a:ln/>
          </p:spPr>
          <p:txBody>
            <a:bodyPr wrap="square" rtlCol="0" anchor="ctr"/>
            <a:lstStyle/>
            <a:p>
              <a:pPr marL="0" indent="0" algn="ctr">
                <a:buNone/>
              </a:pPr>
              <a:r>
                <a:rPr lang="en-US" sz="900" dirty="0">
                  <a:solidFill>
                    <a:srgbClr val="5B6B7F"/>
                  </a:solidFill>
                  <a:latin typeface="Calibri" pitchFamily="34" charset="0"/>
                  <a:ea typeface="Calibri" pitchFamily="34" charset="-122"/>
                  <a:cs typeface="Calibri" pitchFamily="34" charset="-120"/>
                </a:rPr>
                <a:t>Real-time booking</a:t>
              </a:r>
              <a:endParaRPr lang="en-US" sz="900" dirty="0"/>
            </a:p>
          </p:txBody>
        </p:sp>
      </p:grpSp>
      <p:sp>
        <p:nvSpPr>
          <p:cNvPr id="34" name="Shape 5">
            <a:extLst>
              <a:ext uri="{FF2B5EF4-FFF2-40B4-BE49-F238E27FC236}">
                <a16:creationId xmlns:a16="http://schemas.microsoft.com/office/drawing/2014/main" id="{57CC6656-A2BE-EFB2-49E2-F9AE22599C31}"/>
              </a:ext>
            </a:extLst>
          </p:cNvPr>
          <p:cNvSpPr/>
          <p:nvPr/>
        </p:nvSpPr>
        <p:spPr>
          <a:xfrm>
            <a:off x="5695413" y="3239768"/>
            <a:ext cx="2941319" cy="0"/>
          </a:xfrm>
          <a:prstGeom prst="line">
            <a:avLst/>
          </a:prstGeom>
          <a:noFill/>
          <a:ln w="12700">
            <a:solidFill>
              <a:srgbClr val="DDE4EE"/>
            </a:solidFill>
            <a:prstDash val="solid"/>
          </a:ln>
        </p:spPr>
      </p:sp>
      <p:pic>
        <p:nvPicPr>
          <p:cNvPr id="2050" name="Picture 2" descr="IATA Logo PNG Transparent &amp; SVG Vector - Freebie Supply">
            <a:extLst>
              <a:ext uri="{FF2B5EF4-FFF2-40B4-BE49-F238E27FC236}">
                <a16:creationId xmlns:a16="http://schemas.microsoft.com/office/drawing/2014/main" id="{446FA3BC-40CA-46C2-1673-1D811656BF39}"/>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83964" y="3543971"/>
            <a:ext cx="826776" cy="5046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540"/>
          </a:solidFill>
          <a:ln/>
        </p:spPr>
      </p:sp>
      <p:sp>
        <p:nvSpPr>
          <p:cNvPr id="3" name="Shape 1"/>
          <p:cNvSpPr/>
          <p:nvPr/>
        </p:nvSpPr>
        <p:spPr>
          <a:xfrm>
            <a:off x="0" y="1005840"/>
            <a:ext cx="9144000" cy="36576"/>
          </a:xfrm>
          <a:prstGeom prst="rect">
            <a:avLst/>
          </a:prstGeom>
          <a:solidFill>
            <a:srgbClr val="D4A537"/>
          </a:solidFill>
          <a:ln/>
        </p:spPr>
      </p:sp>
      <p:sp>
        <p:nvSpPr>
          <p:cNvPr id="4" name="Text 2"/>
          <p:cNvSpPr/>
          <p:nvPr/>
        </p:nvSpPr>
        <p:spPr>
          <a:xfrm>
            <a:off x="548640" y="274320"/>
            <a:ext cx="7315200" cy="411480"/>
          </a:xfrm>
          <a:prstGeom prst="rect">
            <a:avLst/>
          </a:prstGeom>
          <a:noFill/>
          <a:ln/>
        </p:spPr>
        <p:txBody>
          <a:bodyPr wrap="square" rtlCol="0" anchor="ctr">
            <a:normAutofit fontScale="85000" lnSpcReduction="20000"/>
          </a:bodyPr>
          <a:lstStyle/>
          <a:p>
            <a:pPr marL="0" indent="0">
              <a:buNone/>
            </a:pPr>
            <a:r>
              <a:rPr lang="en-US" sz="2800" b="1" kern="0" spc="400" dirty="0">
                <a:solidFill>
                  <a:srgbClr val="FFFFFF"/>
                </a:solidFill>
                <a:latin typeface="Cambria" pitchFamily="34" charset="0"/>
                <a:ea typeface="Cambria" pitchFamily="34" charset="-122"/>
                <a:cs typeface="Cambria" pitchFamily="34" charset="-120"/>
              </a:rPr>
              <a:t>MISSION &amp; VISION</a:t>
            </a:r>
            <a:endParaRPr lang="en-US" sz="2800" dirty="0"/>
          </a:p>
        </p:txBody>
      </p:sp>
      <p:sp>
        <p:nvSpPr>
          <p:cNvPr id="5" name="Text 3"/>
          <p:cNvSpPr/>
          <p:nvPr/>
        </p:nvSpPr>
        <p:spPr>
          <a:xfrm>
            <a:off x="548640" y="749808"/>
            <a:ext cx="73152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OUR PURPOSE &amp; ASPIRATION</a:t>
            </a:r>
            <a:endParaRPr lang="en-US" sz="1000" dirty="0"/>
          </a:p>
        </p:txBody>
      </p:sp>
      <p:sp>
        <p:nvSpPr>
          <p:cNvPr id="6" name="Shape 4"/>
          <p:cNvSpPr/>
          <p:nvPr/>
        </p:nvSpPr>
        <p:spPr>
          <a:xfrm>
            <a:off x="457200" y="1371600"/>
            <a:ext cx="3977640" cy="3383280"/>
          </a:xfrm>
          <a:prstGeom prst="roundRect">
            <a:avLst>
              <a:gd name="adj" fmla="val 3243"/>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7" name="Shape 5"/>
          <p:cNvSpPr/>
          <p:nvPr/>
        </p:nvSpPr>
        <p:spPr>
          <a:xfrm>
            <a:off x="2034540" y="1691640"/>
            <a:ext cx="822960" cy="822960"/>
          </a:xfrm>
          <a:prstGeom prst="ellipse">
            <a:avLst/>
          </a:prstGeom>
          <a:solidFill>
            <a:srgbClr val="2A345A"/>
          </a:solidFill>
          <a:ln/>
        </p:spPr>
      </p:sp>
      <p:sp>
        <p:nvSpPr>
          <p:cNvPr id="8" name="Text 6"/>
          <p:cNvSpPr/>
          <p:nvPr/>
        </p:nvSpPr>
        <p:spPr>
          <a:xfrm>
            <a:off x="2034540" y="1691640"/>
            <a:ext cx="822960" cy="822960"/>
          </a:xfrm>
          <a:prstGeom prst="rect">
            <a:avLst/>
          </a:prstGeom>
          <a:noFill/>
          <a:ln/>
        </p:spPr>
        <p:txBody>
          <a:bodyPr wrap="square" rtlCol="0" anchor="ctr">
            <a:normAutofit/>
          </a:bodyPr>
          <a:lstStyle/>
          <a:p>
            <a:pPr marL="0" indent="0" algn="ctr">
              <a:buNone/>
            </a:pPr>
            <a:r>
              <a:rPr lang="en-US" sz="3600" dirty="0">
                <a:solidFill>
                  <a:schemeClr val="bg1"/>
                </a:solidFill>
                <a:latin typeface="DejaVu Sans" pitchFamily="34" charset="0"/>
                <a:ea typeface="DejaVu Sans" pitchFamily="34" charset="-122"/>
                <a:cs typeface="DejaVu Sans" pitchFamily="34" charset="-120"/>
              </a:rPr>
              <a:t>◎</a:t>
            </a:r>
            <a:endParaRPr lang="en-US" sz="3600" dirty="0">
              <a:solidFill>
                <a:schemeClr val="bg1"/>
              </a:solidFill>
            </a:endParaRPr>
          </a:p>
        </p:txBody>
      </p:sp>
      <p:sp>
        <p:nvSpPr>
          <p:cNvPr id="9" name="Text 7"/>
          <p:cNvSpPr/>
          <p:nvPr/>
        </p:nvSpPr>
        <p:spPr>
          <a:xfrm>
            <a:off x="457200" y="2651760"/>
            <a:ext cx="3977640" cy="365760"/>
          </a:xfrm>
          <a:prstGeom prst="rect">
            <a:avLst/>
          </a:prstGeom>
          <a:noFill/>
          <a:ln/>
        </p:spPr>
        <p:txBody>
          <a:bodyPr wrap="square" rtlCol="0" anchor="ctr"/>
          <a:lstStyle/>
          <a:p>
            <a:pPr marL="0" indent="0" algn="ctr">
              <a:buNone/>
            </a:pPr>
            <a:r>
              <a:rPr lang="en-US" sz="2000" b="1" dirty="0">
                <a:solidFill>
                  <a:srgbClr val="0E5C8A"/>
                </a:solidFill>
                <a:latin typeface="Cambria" pitchFamily="34" charset="0"/>
                <a:ea typeface="Cambria" pitchFamily="34" charset="-122"/>
                <a:cs typeface="Cambria" pitchFamily="34" charset="-120"/>
              </a:rPr>
              <a:t>Our Mission</a:t>
            </a:r>
            <a:endParaRPr lang="en-US" sz="2000" dirty="0"/>
          </a:p>
        </p:txBody>
      </p:sp>
      <p:sp>
        <p:nvSpPr>
          <p:cNvPr id="10" name="Text 8"/>
          <p:cNvSpPr/>
          <p:nvPr/>
        </p:nvSpPr>
        <p:spPr>
          <a:xfrm>
            <a:off x="777240" y="3154680"/>
            <a:ext cx="3337560" cy="1463040"/>
          </a:xfrm>
          <a:prstGeom prst="rect">
            <a:avLst/>
          </a:prstGeom>
          <a:noFill/>
          <a:ln/>
        </p:spPr>
        <p:txBody>
          <a:bodyPr wrap="square" rtlCol="0" anchor="t">
            <a:normAutofit/>
          </a:bodyPr>
          <a:lstStyle/>
          <a:p>
            <a:pPr marL="0" indent="0" algn="l">
              <a:spcAft>
                <a:spcPts val="600"/>
              </a:spcAft>
              <a:buNone/>
            </a:pPr>
            <a:r>
              <a:rPr lang="en-US" sz="1150" dirty="0">
                <a:solidFill>
                  <a:srgbClr val="1A2533"/>
                </a:solidFill>
                <a:latin typeface="Calibri" pitchFamily="34" charset="0"/>
                <a:ea typeface="Calibri" pitchFamily="34" charset="-122"/>
                <a:cs typeface="Calibri" pitchFamily="34" charset="-120"/>
              </a:rPr>
              <a:t>To make every traveler's journey smooth, safe, and personally meaningful — by combining global connectivity with local warmth, ensuring that each client feels cared for from the first inquiry until safe return home. We exist to remove the friction, uncertainty, and stress from travel, so our clients can focus on what truly matters: the experience itself.</a:t>
            </a:r>
            <a:endParaRPr lang="en-US" sz="1150" dirty="0"/>
          </a:p>
        </p:txBody>
      </p:sp>
      <p:sp>
        <p:nvSpPr>
          <p:cNvPr id="11" name="Shape 9"/>
          <p:cNvSpPr/>
          <p:nvPr/>
        </p:nvSpPr>
        <p:spPr>
          <a:xfrm>
            <a:off x="4617720" y="1371600"/>
            <a:ext cx="3977640" cy="3383280"/>
          </a:xfrm>
          <a:prstGeom prst="roundRect">
            <a:avLst>
              <a:gd name="adj" fmla="val 3243"/>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12" name="Shape 10"/>
          <p:cNvSpPr/>
          <p:nvPr/>
        </p:nvSpPr>
        <p:spPr>
          <a:xfrm>
            <a:off x="6195060" y="1691640"/>
            <a:ext cx="822960" cy="822960"/>
          </a:xfrm>
          <a:prstGeom prst="ellipse">
            <a:avLst/>
          </a:prstGeom>
          <a:solidFill>
            <a:srgbClr val="2A345A"/>
          </a:solidFill>
          <a:ln/>
        </p:spPr>
      </p:sp>
      <p:sp>
        <p:nvSpPr>
          <p:cNvPr id="13" name="Text 11"/>
          <p:cNvSpPr/>
          <p:nvPr/>
        </p:nvSpPr>
        <p:spPr>
          <a:xfrm>
            <a:off x="6195060" y="1691640"/>
            <a:ext cx="822960" cy="822960"/>
          </a:xfrm>
          <a:prstGeom prst="rect">
            <a:avLst/>
          </a:prstGeom>
          <a:noFill/>
          <a:ln/>
        </p:spPr>
        <p:txBody>
          <a:bodyPr wrap="square" rtlCol="0" anchor="ctr">
            <a:normAutofit/>
          </a:bodyPr>
          <a:lstStyle/>
          <a:p>
            <a:pPr marL="0" indent="0" algn="ctr">
              <a:buNone/>
            </a:pPr>
            <a:r>
              <a:rPr lang="en-US" sz="3600" dirty="0">
                <a:solidFill>
                  <a:schemeClr val="bg1"/>
                </a:solidFill>
                <a:latin typeface="DejaVu Sans" pitchFamily="34" charset="0"/>
                <a:ea typeface="DejaVu Sans" pitchFamily="34" charset="-122"/>
                <a:cs typeface="DejaVu Sans" pitchFamily="34" charset="-120"/>
              </a:rPr>
              <a:t>◈</a:t>
            </a:r>
            <a:endParaRPr lang="en-US" sz="3600" dirty="0">
              <a:solidFill>
                <a:schemeClr val="bg1"/>
              </a:solidFill>
            </a:endParaRPr>
          </a:p>
        </p:txBody>
      </p:sp>
      <p:sp>
        <p:nvSpPr>
          <p:cNvPr id="14" name="Text 12"/>
          <p:cNvSpPr/>
          <p:nvPr/>
        </p:nvSpPr>
        <p:spPr>
          <a:xfrm>
            <a:off x="4617720" y="2651760"/>
            <a:ext cx="3977640" cy="365760"/>
          </a:xfrm>
          <a:prstGeom prst="rect">
            <a:avLst/>
          </a:prstGeom>
          <a:noFill/>
          <a:ln/>
        </p:spPr>
        <p:txBody>
          <a:bodyPr wrap="square" rtlCol="0" anchor="ctr"/>
          <a:lstStyle/>
          <a:p>
            <a:pPr marL="0" indent="0" algn="ctr">
              <a:buNone/>
            </a:pPr>
            <a:r>
              <a:rPr lang="en-US" sz="2000" b="1" dirty="0">
                <a:solidFill>
                  <a:srgbClr val="0E5C8A"/>
                </a:solidFill>
                <a:latin typeface="Cambria" pitchFamily="34" charset="0"/>
                <a:ea typeface="Cambria" pitchFamily="34" charset="-122"/>
                <a:cs typeface="Cambria" pitchFamily="34" charset="-120"/>
              </a:rPr>
              <a:t>Our Vision</a:t>
            </a:r>
            <a:endParaRPr lang="en-US" sz="2000" dirty="0"/>
          </a:p>
        </p:txBody>
      </p:sp>
      <p:sp>
        <p:nvSpPr>
          <p:cNvPr id="15" name="Text 13"/>
          <p:cNvSpPr/>
          <p:nvPr/>
        </p:nvSpPr>
        <p:spPr>
          <a:xfrm>
            <a:off x="4937760" y="3154680"/>
            <a:ext cx="3337560" cy="1463040"/>
          </a:xfrm>
          <a:prstGeom prst="rect">
            <a:avLst/>
          </a:prstGeom>
          <a:noFill/>
          <a:ln/>
        </p:spPr>
        <p:txBody>
          <a:bodyPr wrap="square" rtlCol="0" anchor="t">
            <a:normAutofit/>
          </a:bodyPr>
          <a:lstStyle/>
          <a:p>
            <a:pPr marL="0" indent="0" algn="l">
              <a:spcAft>
                <a:spcPts val="600"/>
              </a:spcAft>
              <a:buNone/>
            </a:pPr>
            <a:r>
              <a:rPr lang="en-US" sz="1150" dirty="0">
                <a:solidFill>
                  <a:srgbClr val="1A2533"/>
                </a:solidFill>
                <a:latin typeface="Calibri" pitchFamily="34" charset="0"/>
                <a:ea typeface="Calibri" pitchFamily="34" charset="-122"/>
                <a:cs typeface="Calibri" pitchFamily="34" charset="-120"/>
              </a:rPr>
              <a:t>To become Bangladesh's most trusted and preferred travel partner — recognized by corporations, airlines, and individual travelers alike for our integrity, responsiveness, and the human touch we bring to every booking. We envision a future where booking through Travel Treasure is synonymous with peace of mind.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540"/>
          </a:solidFill>
          <a:ln/>
        </p:spPr>
      </p:sp>
      <p:sp>
        <p:nvSpPr>
          <p:cNvPr id="3" name="Shape 1"/>
          <p:cNvSpPr/>
          <p:nvPr/>
        </p:nvSpPr>
        <p:spPr>
          <a:xfrm>
            <a:off x="0" y="1005840"/>
            <a:ext cx="9144000" cy="36576"/>
          </a:xfrm>
          <a:prstGeom prst="rect">
            <a:avLst/>
          </a:prstGeom>
          <a:solidFill>
            <a:srgbClr val="D4A537"/>
          </a:solidFill>
          <a:ln/>
        </p:spPr>
      </p:sp>
      <p:sp>
        <p:nvSpPr>
          <p:cNvPr id="4" name="Text 2"/>
          <p:cNvSpPr/>
          <p:nvPr/>
        </p:nvSpPr>
        <p:spPr>
          <a:xfrm>
            <a:off x="548640" y="274320"/>
            <a:ext cx="7315200" cy="411480"/>
          </a:xfrm>
          <a:prstGeom prst="rect">
            <a:avLst/>
          </a:prstGeom>
          <a:noFill/>
          <a:ln/>
        </p:spPr>
        <p:txBody>
          <a:bodyPr wrap="square" rtlCol="0" anchor="ctr">
            <a:normAutofit fontScale="85000" lnSpcReduction="20000"/>
          </a:bodyPr>
          <a:lstStyle/>
          <a:p>
            <a:pPr marL="0" indent="0">
              <a:buNone/>
            </a:pPr>
            <a:r>
              <a:rPr lang="en-US" sz="2800" b="1" kern="0" spc="400" dirty="0">
                <a:solidFill>
                  <a:srgbClr val="FFFFFF"/>
                </a:solidFill>
                <a:latin typeface="Cambria" pitchFamily="34" charset="0"/>
                <a:ea typeface="Cambria" pitchFamily="34" charset="-122"/>
                <a:cs typeface="Cambria" pitchFamily="34" charset="-120"/>
              </a:rPr>
              <a:t>OUR CORE SERVICES</a:t>
            </a:r>
            <a:endParaRPr lang="en-US" sz="2800" dirty="0"/>
          </a:p>
        </p:txBody>
      </p:sp>
      <p:sp>
        <p:nvSpPr>
          <p:cNvPr id="5" name="Text 3"/>
          <p:cNvSpPr/>
          <p:nvPr/>
        </p:nvSpPr>
        <p:spPr>
          <a:xfrm>
            <a:off x="548640" y="749808"/>
            <a:ext cx="73152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WHAT WE DELIVER EVERY DAY</a:t>
            </a:r>
            <a:endParaRPr lang="en-US" sz="1000" dirty="0"/>
          </a:p>
        </p:txBody>
      </p:sp>
      <p:sp>
        <p:nvSpPr>
          <p:cNvPr id="6" name="Shape 4"/>
          <p:cNvSpPr/>
          <p:nvPr/>
        </p:nvSpPr>
        <p:spPr>
          <a:xfrm>
            <a:off x="457200" y="1280160"/>
            <a:ext cx="2697480" cy="1783080"/>
          </a:xfrm>
          <a:prstGeom prst="roundRect">
            <a:avLst>
              <a:gd name="adj" fmla="val 4103"/>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7" name="Shape 5"/>
          <p:cNvSpPr/>
          <p:nvPr/>
        </p:nvSpPr>
        <p:spPr>
          <a:xfrm>
            <a:off x="640080" y="1508760"/>
            <a:ext cx="502920" cy="502920"/>
          </a:xfrm>
          <a:prstGeom prst="ellipse">
            <a:avLst/>
          </a:prstGeom>
          <a:solidFill>
            <a:srgbClr val="2A345A"/>
          </a:solidFill>
          <a:ln/>
        </p:spPr>
      </p:sp>
      <p:sp>
        <p:nvSpPr>
          <p:cNvPr id="8" name="Text 6"/>
          <p:cNvSpPr/>
          <p:nvPr/>
        </p:nvSpPr>
        <p:spPr>
          <a:xfrm>
            <a:off x="640080" y="1508760"/>
            <a:ext cx="502920" cy="502920"/>
          </a:xfrm>
          <a:prstGeom prst="rect">
            <a:avLst/>
          </a:prstGeom>
          <a:noFill/>
          <a:ln/>
        </p:spPr>
        <p:txBody>
          <a:bodyPr wrap="square" rtlCol="0" anchor="ctr">
            <a:normAutofit/>
          </a:bodyPr>
          <a:lstStyle/>
          <a:p>
            <a:pPr marL="0" indent="0" algn="ctr">
              <a:buNone/>
            </a:pPr>
            <a:r>
              <a:rPr lang="en-US" sz="1800" dirty="0">
                <a:solidFill>
                  <a:srgbClr val="FFFFFF"/>
                </a:solidFill>
                <a:latin typeface="DejaVu Sans" pitchFamily="34" charset="0"/>
                <a:ea typeface="DejaVu Sans" pitchFamily="34" charset="-122"/>
                <a:cs typeface="DejaVu Sans" pitchFamily="34" charset="-120"/>
              </a:rPr>
              <a:t>✈</a:t>
            </a:r>
            <a:endParaRPr lang="en-US" sz="1800" dirty="0"/>
          </a:p>
        </p:txBody>
      </p:sp>
      <p:sp>
        <p:nvSpPr>
          <p:cNvPr id="9" name="Text 7"/>
          <p:cNvSpPr/>
          <p:nvPr/>
        </p:nvSpPr>
        <p:spPr>
          <a:xfrm>
            <a:off x="1234440" y="1536192"/>
            <a:ext cx="1783080" cy="457200"/>
          </a:xfrm>
          <a:prstGeom prst="rect">
            <a:avLst/>
          </a:prstGeom>
          <a:noFill/>
          <a:ln/>
        </p:spPr>
        <p:txBody>
          <a:bodyPr wrap="square" rtlCol="0" anchor="ctr">
            <a:normAutofit lnSpcReduction="10000"/>
          </a:bodyPr>
          <a:lstStyle/>
          <a:p>
            <a:pPr marL="0" indent="0" algn="l">
              <a:buNone/>
            </a:pPr>
            <a:r>
              <a:rPr lang="en-US" sz="1300" b="1" dirty="0">
                <a:solidFill>
                  <a:srgbClr val="2A345A"/>
                </a:solidFill>
                <a:latin typeface="Cambria" pitchFamily="34" charset="0"/>
                <a:ea typeface="Cambria" pitchFamily="34" charset="-122"/>
                <a:cs typeface="Cambria" pitchFamily="34" charset="-120"/>
              </a:rPr>
              <a:t>Online Booking Services</a:t>
            </a:r>
            <a:endParaRPr lang="en-US" sz="1300" dirty="0">
              <a:solidFill>
                <a:srgbClr val="2A345A"/>
              </a:solidFill>
            </a:endParaRPr>
          </a:p>
        </p:txBody>
      </p:sp>
      <p:sp>
        <p:nvSpPr>
          <p:cNvPr id="10" name="Text 8"/>
          <p:cNvSpPr/>
          <p:nvPr/>
        </p:nvSpPr>
        <p:spPr>
          <a:xfrm>
            <a:off x="685800" y="2148840"/>
            <a:ext cx="2240280" cy="822960"/>
          </a:xfrm>
          <a:prstGeom prst="rect">
            <a:avLst/>
          </a:prstGeom>
          <a:noFill/>
          <a:ln/>
        </p:spPr>
        <p:txBody>
          <a:bodyPr wrap="square" rtlCol="0" anchor="t">
            <a:normAutofit/>
          </a:bodyPr>
          <a:lstStyle/>
          <a:p>
            <a:pPr marL="0" indent="0" algn="l">
              <a:buNone/>
            </a:pPr>
            <a:r>
              <a:rPr lang="en-US" sz="1050" dirty="0">
                <a:solidFill>
                  <a:srgbClr val="1A2533"/>
                </a:solidFill>
                <a:latin typeface="Calibri" pitchFamily="34" charset="0"/>
                <a:ea typeface="Calibri" pitchFamily="34" charset="-122"/>
                <a:cs typeface="Calibri" pitchFamily="34" charset="-120"/>
              </a:rPr>
              <a:t>Seamless booking through multi-GDS connectivity and integrated APIs, offering real-time availability and instant confirmation.</a:t>
            </a:r>
            <a:endParaRPr lang="en-US" sz="1050" dirty="0"/>
          </a:p>
        </p:txBody>
      </p:sp>
      <p:sp>
        <p:nvSpPr>
          <p:cNvPr id="11" name="Shape 9"/>
          <p:cNvSpPr/>
          <p:nvPr/>
        </p:nvSpPr>
        <p:spPr>
          <a:xfrm>
            <a:off x="3246120" y="1280160"/>
            <a:ext cx="2697480" cy="1783080"/>
          </a:xfrm>
          <a:prstGeom prst="roundRect">
            <a:avLst>
              <a:gd name="adj" fmla="val 4103"/>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12" name="Shape 10"/>
          <p:cNvSpPr/>
          <p:nvPr/>
        </p:nvSpPr>
        <p:spPr>
          <a:xfrm>
            <a:off x="3429000" y="1508760"/>
            <a:ext cx="502920" cy="502920"/>
          </a:xfrm>
          <a:prstGeom prst="ellipse">
            <a:avLst/>
          </a:prstGeom>
          <a:solidFill>
            <a:srgbClr val="2A345A"/>
          </a:solidFill>
          <a:ln/>
        </p:spPr>
      </p:sp>
      <p:sp>
        <p:nvSpPr>
          <p:cNvPr id="13" name="Text 11"/>
          <p:cNvSpPr/>
          <p:nvPr/>
        </p:nvSpPr>
        <p:spPr>
          <a:xfrm>
            <a:off x="3429000" y="1508760"/>
            <a:ext cx="502920" cy="502920"/>
          </a:xfrm>
          <a:prstGeom prst="rect">
            <a:avLst/>
          </a:prstGeom>
          <a:noFill/>
          <a:ln/>
        </p:spPr>
        <p:txBody>
          <a:bodyPr wrap="square" rtlCol="0" anchor="ctr">
            <a:normAutofit/>
          </a:bodyPr>
          <a:lstStyle/>
          <a:p>
            <a:pPr marL="0" indent="0" algn="ctr">
              <a:buNone/>
            </a:pPr>
            <a:r>
              <a:rPr lang="en-US" sz="1800" dirty="0">
                <a:solidFill>
                  <a:srgbClr val="FFFFFF"/>
                </a:solidFill>
                <a:latin typeface="DejaVu Sans" pitchFamily="34" charset="0"/>
                <a:ea typeface="DejaVu Sans" pitchFamily="34" charset="-122"/>
                <a:cs typeface="DejaVu Sans" pitchFamily="34" charset="-120"/>
              </a:rPr>
              <a:t>🛫</a:t>
            </a:r>
            <a:endParaRPr lang="en-US" sz="1800" dirty="0"/>
          </a:p>
        </p:txBody>
      </p:sp>
      <p:sp>
        <p:nvSpPr>
          <p:cNvPr id="14" name="Text 12"/>
          <p:cNvSpPr/>
          <p:nvPr/>
        </p:nvSpPr>
        <p:spPr>
          <a:xfrm>
            <a:off x="4023360" y="1536192"/>
            <a:ext cx="1783080" cy="457200"/>
          </a:xfrm>
          <a:prstGeom prst="rect">
            <a:avLst/>
          </a:prstGeom>
          <a:noFill/>
          <a:ln/>
        </p:spPr>
        <p:txBody>
          <a:bodyPr wrap="square" rtlCol="0" anchor="ctr">
            <a:normAutofit/>
          </a:bodyPr>
          <a:lstStyle/>
          <a:p>
            <a:pPr marL="0" indent="0" algn="l">
              <a:buNone/>
            </a:pPr>
            <a:r>
              <a:rPr lang="en-US" sz="1300" b="1" dirty="0">
                <a:solidFill>
                  <a:srgbClr val="2A345A"/>
                </a:solidFill>
                <a:latin typeface="Cambria" pitchFamily="34" charset="0"/>
                <a:ea typeface="Cambria" pitchFamily="34" charset="-122"/>
                <a:cs typeface="Cambria" pitchFamily="34" charset="-120"/>
              </a:rPr>
              <a:t>Air Booking</a:t>
            </a:r>
            <a:endParaRPr lang="en-US" sz="1300" dirty="0">
              <a:solidFill>
                <a:srgbClr val="2A345A"/>
              </a:solidFill>
            </a:endParaRPr>
          </a:p>
        </p:txBody>
      </p:sp>
      <p:sp>
        <p:nvSpPr>
          <p:cNvPr id="15" name="Text 13"/>
          <p:cNvSpPr/>
          <p:nvPr/>
        </p:nvSpPr>
        <p:spPr>
          <a:xfrm>
            <a:off x="3474720" y="2148840"/>
            <a:ext cx="2240280" cy="822960"/>
          </a:xfrm>
          <a:prstGeom prst="rect">
            <a:avLst/>
          </a:prstGeom>
          <a:noFill/>
          <a:ln/>
        </p:spPr>
        <p:txBody>
          <a:bodyPr wrap="square" rtlCol="0" anchor="t">
            <a:normAutofit/>
          </a:bodyPr>
          <a:lstStyle/>
          <a:p>
            <a:pPr marL="0" indent="0" algn="l">
              <a:buNone/>
            </a:pPr>
            <a:r>
              <a:rPr lang="en-US" sz="1050" dirty="0">
                <a:solidFill>
                  <a:srgbClr val="1A2533"/>
                </a:solidFill>
                <a:latin typeface="Calibri" pitchFamily="34" charset="0"/>
                <a:ea typeface="Calibri" pitchFamily="34" charset="-122"/>
                <a:cs typeface="Calibri" pitchFamily="34" charset="-120"/>
              </a:rPr>
              <a:t>Domestic and international flight ticketing with access to 18 partner airlines and competitive fares.</a:t>
            </a:r>
            <a:endParaRPr lang="en-US" sz="1050" dirty="0"/>
          </a:p>
        </p:txBody>
      </p:sp>
      <p:sp>
        <p:nvSpPr>
          <p:cNvPr id="16" name="Shape 14"/>
          <p:cNvSpPr/>
          <p:nvPr/>
        </p:nvSpPr>
        <p:spPr>
          <a:xfrm>
            <a:off x="6035040" y="1280160"/>
            <a:ext cx="2697480" cy="1783080"/>
          </a:xfrm>
          <a:prstGeom prst="roundRect">
            <a:avLst>
              <a:gd name="adj" fmla="val 4103"/>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17" name="Shape 15"/>
          <p:cNvSpPr/>
          <p:nvPr/>
        </p:nvSpPr>
        <p:spPr>
          <a:xfrm>
            <a:off x="6217920" y="1508760"/>
            <a:ext cx="502920" cy="502920"/>
          </a:xfrm>
          <a:prstGeom prst="ellipse">
            <a:avLst/>
          </a:prstGeom>
          <a:solidFill>
            <a:srgbClr val="2A345A"/>
          </a:solidFill>
          <a:ln/>
        </p:spPr>
        <p:txBody>
          <a:bodyPr/>
          <a:lstStyle/>
          <a:p>
            <a:endParaRPr lang="en-US" dirty="0"/>
          </a:p>
        </p:txBody>
      </p:sp>
      <p:sp>
        <p:nvSpPr>
          <p:cNvPr id="18" name="Text 16"/>
          <p:cNvSpPr/>
          <p:nvPr/>
        </p:nvSpPr>
        <p:spPr>
          <a:xfrm>
            <a:off x="6217920" y="1508760"/>
            <a:ext cx="502920" cy="502920"/>
          </a:xfrm>
          <a:prstGeom prst="rect">
            <a:avLst/>
          </a:prstGeom>
          <a:noFill/>
          <a:ln/>
        </p:spPr>
        <p:txBody>
          <a:bodyPr wrap="square" rtlCol="0" anchor="ctr">
            <a:normAutofit/>
          </a:bodyPr>
          <a:lstStyle/>
          <a:p>
            <a:pPr marL="0" indent="0" algn="ctr">
              <a:buNone/>
            </a:pPr>
            <a:endParaRPr lang="en-US" sz="1800" dirty="0"/>
          </a:p>
        </p:txBody>
      </p:sp>
      <p:sp>
        <p:nvSpPr>
          <p:cNvPr id="19" name="Text 17"/>
          <p:cNvSpPr/>
          <p:nvPr/>
        </p:nvSpPr>
        <p:spPr>
          <a:xfrm>
            <a:off x="6812280" y="1536192"/>
            <a:ext cx="1783080" cy="457200"/>
          </a:xfrm>
          <a:prstGeom prst="rect">
            <a:avLst/>
          </a:prstGeom>
          <a:noFill/>
          <a:ln/>
        </p:spPr>
        <p:txBody>
          <a:bodyPr wrap="square" rtlCol="0" anchor="ctr">
            <a:normAutofit/>
          </a:bodyPr>
          <a:lstStyle/>
          <a:p>
            <a:pPr marL="0" indent="0" algn="l">
              <a:buNone/>
            </a:pPr>
            <a:r>
              <a:rPr lang="en-US" sz="1300" b="1" dirty="0">
                <a:solidFill>
                  <a:srgbClr val="2A345A"/>
                </a:solidFill>
                <a:latin typeface="Cambria" pitchFamily="34" charset="0"/>
                <a:ea typeface="Cambria" pitchFamily="34" charset="-122"/>
                <a:cs typeface="Cambria" pitchFamily="34" charset="-120"/>
              </a:rPr>
              <a:t>Visa Processing</a:t>
            </a:r>
            <a:endParaRPr lang="en-US" sz="1300" dirty="0">
              <a:solidFill>
                <a:srgbClr val="2A345A"/>
              </a:solidFill>
            </a:endParaRPr>
          </a:p>
        </p:txBody>
      </p:sp>
      <p:sp>
        <p:nvSpPr>
          <p:cNvPr id="20" name="Text 18"/>
          <p:cNvSpPr/>
          <p:nvPr/>
        </p:nvSpPr>
        <p:spPr>
          <a:xfrm>
            <a:off x="6263640" y="2148840"/>
            <a:ext cx="2240280" cy="822960"/>
          </a:xfrm>
          <a:prstGeom prst="rect">
            <a:avLst/>
          </a:prstGeom>
          <a:noFill/>
          <a:ln/>
        </p:spPr>
        <p:txBody>
          <a:bodyPr wrap="square" rtlCol="0" anchor="t">
            <a:normAutofit/>
          </a:bodyPr>
          <a:lstStyle/>
          <a:p>
            <a:pPr marL="0" indent="0" algn="l">
              <a:buNone/>
            </a:pPr>
            <a:r>
              <a:rPr lang="en-US" sz="1050" dirty="0">
                <a:solidFill>
                  <a:srgbClr val="1A2533"/>
                </a:solidFill>
                <a:latin typeface="Calibri" pitchFamily="34" charset="0"/>
                <a:ea typeface="Calibri" pitchFamily="34" charset="-122"/>
                <a:cs typeface="Calibri" pitchFamily="34" charset="-120"/>
              </a:rPr>
              <a:t>End-to-end visa application support — documentation, form filling, and embassy liaison.</a:t>
            </a:r>
            <a:endParaRPr lang="en-US" sz="1050" dirty="0"/>
          </a:p>
        </p:txBody>
      </p:sp>
      <p:sp>
        <p:nvSpPr>
          <p:cNvPr id="21" name="Shape 19"/>
          <p:cNvSpPr/>
          <p:nvPr/>
        </p:nvSpPr>
        <p:spPr>
          <a:xfrm>
            <a:off x="457200" y="3200400"/>
            <a:ext cx="2697480" cy="1783080"/>
          </a:xfrm>
          <a:prstGeom prst="roundRect">
            <a:avLst>
              <a:gd name="adj" fmla="val 4103"/>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22" name="Shape 20"/>
          <p:cNvSpPr/>
          <p:nvPr/>
        </p:nvSpPr>
        <p:spPr>
          <a:xfrm>
            <a:off x="640080" y="3429000"/>
            <a:ext cx="502920" cy="502920"/>
          </a:xfrm>
          <a:prstGeom prst="ellipse">
            <a:avLst/>
          </a:prstGeom>
          <a:solidFill>
            <a:srgbClr val="2A345A"/>
          </a:solidFill>
          <a:ln/>
        </p:spPr>
      </p:sp>
      <p:sp>
        <p:nvSpPr>
          <p:cNvPr id="23" name="Text 21"/>
          <p:cNvSpPr/>
          <p:nvPr/>
        </p:nvSpPr>
        <p:spPr>
          <a:xfrm>
            <a:off x="640080" y="3429000"/>
            <a:ext cx="502920" cy="502920"/>
          </a:xfrm>
          <a:prstGeom prst="rect">
            <a:avLst/>
          </a:prstGeom>
          <a:noFill/>
          <a:ln/>
        </p:spPr>
        <p:txBody>
          <a:bodyPr wrap="square" rtlCol="0" anchor="ctr">
            <a:normAutofit/>
          </a:bodyPr>
          <a:lstStyle/>
          <a:p>
            <a:pPr marL="0" indent="0" algn="ctr">
              <a:buNone/>
            </a:pPr>
            <a:endParaRPr lang="en-US" sz="1800" dirty="0">
              <a:solidFill>
                <a:srgbClr val="2A345A"/>
              </a:solidFill>
            </a:endParaRPr>
          </a:p>
        </p:txBody>
      </p:sp>
      <p:sp>
        <p:nvSpPr>
          <p:cNvPr id="24" name="Text 22"/>
          <p:cNvSpPr/>
          <p:nvPr/>
        </p:nvSpPr>
        <p:spPr>
          <a:xfrm>
            <a:off x="1234440" y="3456432"/>
            <a:ext cx="1783080" cy="457200"/>
          </a:xfrm>
          <a:prstGeom prst="rect">
            <a:avLst/>
          </a:prstGeom>
          <a:noFill/>
          <a:ln/>
        </p:spPr>
        <p:txBody>
          <a:bodyPr wrap="square" rtlCol="0" anchor="ctr">
            <a:normAutofit/>
          </a:bodyPr>
          <a:lstStyle/>
          <a:p>
            <a:pPr marL="0" indent="0" algn="l">
              <a:buNone/>
            </a:pPr>
            <a:r>
              <a:rPr lang="en-US" sz="1300" b="1" dirty="0">
                <a:solidFill>
                  <a:srgbClr val="2A345A"/>
                </a:solidFill>
                <a:latin typeface="Cambria" pitchFamily="34" charset="0"/>
                <a:ea typeface="Cambria" pitchFamily="34" charset="-122"/>
                <a:cs typeface="Cambria" pitchFamily="34" charset="-120"/>
              </a:rPr>
              <a:t>Hotel Reservation</a:t>
            </a:r>
            <a:endParaRPr lang="en-US" sz="1300" dirty="0">
              <a:solidFill>
                <a:srgbClr val="2A345A"/>
              </a:solidFill>
            </a:endParaRPr>
          </a:p>
        </p:txBody>
      </p:sp>
      <p:sp>
        <p:nvSpPr>
          <p:cNvPr id="25" name="Text 23"/>
          <p:cNvSpPr/>
          <p:nvPr/>
        </p:nvSpPr>
        <p:spPr>
          <a:xfrm>
            <a:off x="685800" y="4069080"/>
            <a:ext cx="2240280" cy="822960"/>
          </a:xfrm>
          <a:prstGeom prst="rect">
            <a:avLst/>
          </a:prstGeom>
          <a:noFill/>
          <a:ln/>
        </p:spPr>
        <p:txBody>
          <a:bodyPr wrap="square" rtlCol="0" anchor="t">
            <a:normAutofit/>
          </a:bodyPr>
          <a:lstStyle/>
          <a:p>
            <a:pPr marL="0" indent="0" algn="l">
              <a:buNone/>
            </a:pPr>
            <a:r>
              <a:rPr lang="en-US" sz="1050" dirty="0">
                <a:solidFill>
                  <a:srgbClr val="1A2533"/>
                </a:solidFill>
                <a:latin typeface="Calibri" pitchFamily="34" charset="0"/>
                <a:ea typeface="Calibri" pitchFamily="34" charset="-122"/>
                <a:cs typeface="Calibri" pitchFamily="34" charset="-120"/>
              </a:rPr>
              <a:t>Global hotel bookings across every budget tier, with negotiated corporate rates.</a:t>
            </a:r>
            <a:endParaRPr lang="en-US" sz="1050" dirty="0"/>
          </a:p>
        </p:txBody>
      </p:sp>
      <p:sp>
        <p:nvSpPr>
          <p:cNvPr id="26" name="Shape 24"/>
          <p:cNvSpPr/>
          <p:nvPr/>
        </p:nvSpPr>
        <p:spPr>
          <a:xfrm>
            <a:off x="3246120" y="3200400"/>
            <a:ext cx="2697480" cy="1783080"/>
          </a:xfrm>
          <a:prstGeom prst="roundRect">
            <a:avLst>
              <a:gd name="adj" fmla="val 4103"/>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27" name="Shape 25"/>
          <p:cNvSpPr/>
          <p:nvPr/>
        </p:nvSpPr>
        <p:spPr>
          <a:xfrm>
            <a:off x="3429000" y="3429000"/>
            <a:ext cx="502920" cy="502920"/>
          </a:xfrm>
          <a:prstGeom prst="ellipse">
            <a:avLst/>
          </a:prstGeom>
          <a:solidFill>
            <a:srgbClr val="2A345A"/>
          </a:solidFill>
          <a:ln/>
        </p:spPr>
      </p:sp>
      <p:sp>
        <p:nvSpPr>
          <p:cNvPr id="28" name="Text 26"/>
          <p:cNvSpPr/>
          <p:nvPr/>
        </p:nvSpPr>
        <p:spPr>
          <a:xfrm>
            <a:off x="3429000" y="3429000"/>
            <a:ext cx="502920" cy="502920"/>
          </a:xfrm>
          <a:prstGeom prst="rect">
            <a:avLst/>
          </a:prstGeom>
          <a:noFill/>
          <a:ln/>
        </p:spPr>
        <p:txBody>
          <a:bodyPr wrap="square" rtlCol="0" anchor="ctr">
            <a:normAutofit/>
          </a:bodyPr>
          <a:lstStyle/>
          <a:p>
            <a:pPr marL="0" indent="0" algn="ctr">
              <a:buNone/>
            </a:pPr>
            <a:endParaRPr lang="en-US" sz="1800" dirty="0"/>
          </a:p>
        </p:txBody>
      </p:sp>
      <p:sp>
        <p:nvSpPr>
          <p:cNvPr id="29" name="Text 27"/>
          <p:cNvSpPr/>
          <p:nvPr/>
        </p:nvSpPr>
        <p:spPr>
          <a:xfrm>
            <a:off x="4023360" y="3456432"/>
            <a:ext cx="1783080" cy="457200"/>
          </a:xfrm>
          <a:prstGeom prst="rect">
            <a:avLst/>
          </a:prstGeom>
          <a:noFill/>
          <a:ln/>
        </p:spPr>
        <p:txBody>
          <a:bodyPr wrap="square" rtlCol="0" anchor="ctr">
            <a:normAutofit/>
          </a:bodyPr>
          <a:lstStyle/>
          <a:p>
            <a:pPr marL="0" indent="0" algn="l">
              <a:buNone/>
            </a:pPr>
            <a:r>
              <a:rPr lang="en-US" sz="1300" b="1" dirty="0">
                <a:solidFill>
                  <a:srgbClr val="2A345A"/>
                </a:solidFill>
                <a:latin typeface="Cambria" pitchFamily="34" charset="0"/>
                <a:ea typeface="Cambria" pitchFamily="34" charset="-122"/>
                <a:cs typeface="Cambria" pitchFamily="34" charset="-120"/>
              </a:rPr>
              <a:t>Airport Transfer</a:t>
            </a:r>
            <a:endParaRPr lang="en-US" sz="1300" dirty="0">
              <a:solidFill>
                <a:srgbClr val="2A345A"/>
              </a:solidFill>
            </a:endParaRPr>
          </a:p>
        </p:txBody>
      </p:sp>
      <p:sp>
        <p:nvSpPr>
          <p:cNvPr id="30" name="Text 28"/>
          <p:cNvSpPr/>
          <p:nvPr/>
        </p:nvSpPr>
        <p:spPr>
          <a:xfrm>
            <a:off x="3474720" y="4069080"/>
            <a:ext cx="2240280" cy="822960"/>
          </a:xfrm>
          <a:prstGeom prst="rect">
            <a:avLst/>
          </a:prstGeom>
          <a:noFill/>
          <a:ln/>
        </p:spPr>
        <p:txBody>
          <a:bodyPr wrap="square" rtlCol="0" anchor="t">
            <a:normAutofit/>
          </a:bodyPr>
          <a:lstStyle/>
          <a:p>
            <a:pPr marL="0" indent="0" algn="l">
              <a:buNone/>
            </a:pPr>
            <a:r>
              <a:rPr lang="en-US" sz="1050" dirty="0">
                <a:solidFill>
                  <a:srgbClr val="1A2533"/>
                </a:solidFill>
                <a:latin typeface="Calibri" pitchFamily="34" charset="0"/>
                <a:ea typeface="Calibri" pitchFamily="34" charset="-122"/>
                <a:cs typeface="Calibri" pitchFamily="34" charset="-120"/>
              </a:rPr>
              <a:t>Reliable pre-booked ground transportation tailored to your schedule and group size.</a:t>
            </a:r>
            <a:endParaRPr lang="en-US" sz="1050" dirty="0"/>
          </a:p>
        </p:txBody>
      </p:sp>
      <p:sp>
        <p:nvSpPr>
          <p:cNvPr id="31" name="Shape 29"/>
          <p:cNvSpPr/>
          <p:nvPr/>
        </p:nvSpPr>
        <p:spPr>
          <a:xfrm>
            <a:off x="6035040" y="3200400"/>
            <a:ext cx="2697480" cy="1783080"/>
          </a:xfrm>
          <a:prstGeom prst="roundRect">
            <a:avLst>
              <a:gd name="adj" fmla="val 4103"/>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32" name="Shape 30"/>
          <p:cNvSpPr/>
          <p:nvPr/>
        </p:nvSpPr>
        <p:spPr>
          <a:xfrm>
            <a:off x="6217920" y="3429000"/>
            <a:ext cx="502920" cy="502920"/>
          </a:xfrm>
          <a:prstGeom prst="ellipse">
            <a:avLst/>
          </a:prstGeom>
          <a:solidFill>
            <a:srgbClr val="2A345A"/>
          </a:solidFill>
          <a:ln/>
        </p:spPr>
      </p:sp>
      <p:sp>
        <p:nvSpPr>
          <p:cNvPr id="33" name="Text 31"/>
          <p:cNvSpPr/>
          <p:nvPr/>
        </p:nvSpPr>
        <p:spPr>
          <a:xfrm>
            <a:off x="6217920" y="3429000"/>
            <a:ext cx="502920" cy="502920"/>
          </a:xfrm>
          <a:prstGeom prst="rect">
            <a:avLst/>
          </a:prstGeom>
          <a:noFill/>
          <a:ln/>
        </p:spPr>
        <p:txBody>
          <a:bodyPr wrap="square" rtlCol="0" anchor="ctr">
            <a:normAutofit/>
          </a:bodyPr>
          <a:lstStyle/>
          <a:p>
            <a:pPr marL="0" indent="0" algn="ctr">
              <a:buNone/>
            </a:pPr>
            <a:endParaRPr lang="en-US" sz="1800" dirty="0"/>
          </a:p>
        </p:txBody>
      </p:sp>
      <p:sp>
        <p:nvSpPr>
          <p:cNvPr id="34" name="Text 32"/>
          <p:cNvSpPr/>
          <p:nvPr/>
        </p:nvSpPr>
        <p:spPr>
          <a:xfrm>
            <a:off x="6812280" y="3456432"/>
            <a:ext cx="1783080" cy="457200"/>
          </a:xfrm>
          <a:prstGeom prst="rect">
            <a:avLst/>
          </a:prstGeom>
          <a:noFill/>
          <a:ln/>
        </p:spPr>
        <p:txBody>
          <a:bodyPr wrap="square" rtlCol="0" anchor="ctr">
            <a:normAutofit lnSpcReduction="10000"/>
          </a:bodyPr>
          <a:lstStyle/>
          <a:p>
            <a:pPr marL="0" indent="0" algn="l">
              <a:buNone/>
            </a:pPr>
            <a:r>
              <a:rPr lang="en-US" sz="1300" b="1" dirty="0">
                <a:solidFill>
                  <a:srgbClr val="2A345A"/>
                </a:solidFill>
                <a:latin typeface="Cambria" pitchFamily="34" charset="0"/>
                <a:ea typeface="Cambria" pitchFamily="34" charset="-122"/>
                <a:cs typeface="Cambria" pitchFamily="34" charset="-120"/>
              </a:rPr>
              <a:t>Foreign Dollar Endorsement</a:t>
            </a:r>
            <a:endParaRPr lang="en-US" sz="1300" dirty="0">
              <a:solidFill>
                <a:srgbClr val="2A345A"/>
              </a:solidFill>
            </a:endParaRPr>
          </a:p>
        </p:txBody>
      </p:sp>
      <p:sp>
        <p:nvSpPr>
          <p:cNvPr id="35" name="Text 33"/>
          <p:cNvSpPr/>
          <p:nvPr/>
        </p:nvSpPr>
        <p:spPr>
          <a:xfrm>
            <a:off x="6263640" y="4069080"/>
            <a:ext cx="2240280" cy="822960"/>
          </a:xfrm>
          <a:prstGeom prst="rect">
            <a:avLst/>
          </a:prstGeom>
          <a:noFill/>
          <a:ln/>
        </p:spPr>
        <p:txBody>
          <a:bodyPr wrap="square" rtlCol="0" anchor="t">
            <a:normAutofit/>
          </a:bodyPr>
          <a:lstStyle/>
          <a:p>
            <a:pPr marL="0" indent="0" algn="l">
              <a:buNone/>
            </a:pPr>
            <a:r>
              <a:rPr lang="en-US" sz="1050" dirty="0">
                <a:solidFill>
                  <a:srgbClr val="1A2533"/>
                </a:solidFill>
                <a:latin typeface="Calibri" pitchFamily="34" charset="0"/>
                <a:ea typeface="Calibri" pitchFamily="34" charset="-122"/>
                <a:cs typeface="Calibri" pitchFamily="34" charset="-120"/>
              </a:rPr>
              <a:t>Foreign currency endorsement and expatriate employee travel services for corporate clients.</a:t>
            </a:r>
            <a:endParaRPr lang="en-US" sz="1050" dirty="0"/>
          </a:p>
        </p:txBody>
      </p:sp>
      <p:pic>
        <p:nvPicPr>
          <p:cNvPr id="37" name="Graphic 36" descr="Document">
            <a:extLst>
              <a:ext uri="{FF2B5EF4-FFF2-40B4-BE49-F238E27FC236}">
                <a16:creationId xmlns:a16="http://schemas.microsoft.com/office/drawing/2014/main" id="{1E729045-5807-70A3-87E1-7F7B38B08A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25905" y="1605860"/>
            <a:ext cx="310025" cy="310025"/>
          </a:xfrm>
          <a:prstGeom prst="rect">
            <a:avLst/>
          </a:prstGeom>
        </p:spPr>
      </p:pic>
      <p:pic>
        <p:nvPicPr>
          <p:cNvPr id="39" name="Graphic 38" descr="City">
            <a:extLst>
              <a:ext uri="{FF2B5EF4-FFF2-40B4-BE49-F238E27FC236}">
                <a16:creationId xmlns:a16="http://schemas.microsoft.com/office/drawing/2014/main" id="{72072077-520A-CCA4-F71A-5FCF0EBAE3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1824" y="3480671"/>
            <a:ext cx="396676" cy="396676"/>
          </a:xfrm>
          <a:prstGeom prst="rect">
            <a:avLst/>
          </a:prstGeom>
        </p:spPr>
      </p:pic>
      <p:pic>
        <p:nvPicPr>
          <p:cNvPr id="41" name="Graphic 40" descr="Car">
            <a:extLst>
              <a:ext uri="{FF2B5EF4-FFF2-40B4-BE49-F238E27FC236}">
                <a16:creationId xmlns:a16="http://schemas.microsoft.com/office/drawing/2014/main" id="{98685E60-741B-8192-F72C-AA1D71A002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81977" y="3454544"/>
            <a:ext cx="411480" cy="411480"/>
          </a:xfrm>
          <a:prstGeom prst="rect">
            <a:avLst/>
          </a:prstGeom>
        </p:spPr>
      </p:pic>
      <p:pic>
        <p:nvPicPr>
          <p:cNvPr id="43" name="Graphic 42" descr="Dollar">
            <a:extLst>
              <a:ext uri="{FF2B5EF4-FFF2-40B4-BE49-F238E27FC236}">
                <a16:creationId xmlns:a16="http://schemas.microsoft.com/office/drawing/2014/main" id="{64B97C8B-F8D9-B2D7-0F81-5694554F890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96296" y="3519351"/>
            <a:ext cx="343989" cy="3439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540"/>
          </a:solidFill>
          <a:ln/>
        </p:spPr>
      </p:sp>
      <p:sp>
        <p:nvSpPr>
          <p:cNvPr id="3" name="Shape 1"/>
          <p:cNvSpPr/>
          <p:nvPr/>
        </p:nvSpPr>
        <p:spPr>
          <a:xfrm>
            <a:off x="0" y="1005840"/>
            <a:ext cx="9144000" cy="36576"/>
          </a:xfrm>
          <a:prstGeom prst="rect">
            <a:avLst/>
          </a:prstGeom>
          <a:solidFill>
            <a:srgbClr val="D4A537"/>
          </a:solidFill>
          <a:ln/>
        </p:spPr>
      </p:sp>
      <p:sp>
        <p:nvSpPr>
          <p:cNvPr id="4" name="Text 2"/>
          <p:cNvSpPr/>
          <p:nvPr/>
        </p:nvSpPr>
        <p:spPr>
          <a:xfrm>
            <a:off x="548640" y="274320"/>
            <a:ext cx="7315200" cy="411480"/>
          </a:xfrm>
          <a:prstGeom prst="rect">
            <a:avLst/>
          </a:prstGeom>
          <a:noFill/>
          <a:ln/>
        </p:spPr>
        <p:txBody>
          <a:bodyPr wrap="square" rtlCol="0" anchor="ctr">
            <a:normAutofit fontScale="85000" lnSpcReduction="20000"/>
          </a:bodyPr>
          <a:lstStyle/>
          <a:p>
            <a:pPr marL="0" indent="0">
              <a:buNone/>
            </a:pPr>
            <a:r>
              <a:rPr lang="en-US" sz="2800" b="1" kern="0" spc="400" dirty="0">
                <a:solidFill>
                  <a:srgbClr val="FFFFFF"/>
                </a:solidFill>
                <a:latin typeface="Cambria" pitchFamily="34" charset="0"/>
                <a:ea typeface="Cambria" pitchFamily="34" charset="-122"/>
                <a:cs typeface="Cambria" pitchFamily="34" charset="-120"/>
              </a:rPr>
              <a:t>PREMIUM OFFERINGS</a:t>
            </a:r>
            <a:endParaRPr lang="en-US" sz="2800" dirty="0"/>
          </a:p>
        </p:txBody>
      </p:sp>
      <p:sp>
        <p:nvSpPr>
          <p:cNvPr id="5" name="Text 3"/>
          <p:cNvSpPr/>
          <p:nvPr/>
        </p:nvSpPr>
        <p:spPr>
          <a:xfrm>
            <a:off x="548640" y="749808"/>
            <a:ext cx="73152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BEYOND THE BOOKING</a:t>
            </a:r>
            <a:endParaRPr lang="en-US" sz="1000" dirty="0"/>
          </a:p>
        </p:txBody>
      </p:sp>
      <p:sp>
        <p:nvSpPr>
          <p:cNvPr id="6" name="Text 4"/>
          <p:cNvSpPr/>
          <p:nvPr/>
        </p:nvSpPr>
        <p:spPr>
          <a:xfrm>
            <a:off x="548640" y="1234440"/>
            <a:ext cx="8046720" cy="502920"/>
          </a:xfrm>
          <a:prstGeom prst="rect">
            <a:avLst/>
          </a:prstGeom>
          <a:noFill/>
          <a:ln/>
        </p:spPr>
        <p:txBody>
          <a:bodyPr wrap="square" rtlCol="0" anchor="t">
            <a:normAutofit/>
          </a:bodyPr>
          <a:lstStyle/>
          <a:p>
            <a:pPr marL="0" indent="0" algn="l">
              <a:buNone/>
            </a:pPr>
            <a:r>
              <a:rPr lang="en-US" sz="1100" i="1" dirty="0">
                <a:solidFill>
                  <a:srgbClr val="5B6B7F"/>
                </a:solidFill>
                <a:latin typeface="Calibri" pitchFamily="34" charset="0"/>
                <a:ea typeface="Calibri" pitchFamily="34" charset="-122"/>
                <a:cs typeface="Calibri" pitchFamily="34" charset="-120"/>
              </a:rPr>
              <a:t>Beyond standard travel arrangements, Travel Treasure offers a curated set of premium services designed to elevate every aspect of your journey — each reflecting our commitment to comfort, responsiveness, and personalization.</a:t>
            </a:r>
            <a:endParaRPr lang="en-US" sz="1100" dirty="0"/>
          </a:p>
        </p:txBody>
      </p:sp>
      <p:sp>
        <p:nvSpPr>
          <p:cNvPr id="7" name="Shape 5"/>
          <p:cNvSpPr/>
          <p:nvPr/>
        </p:nvSpPr>
        <p:spPr>
          <a:xfrm>
            <a:off x="548640" y="1874520"/>
            <a:ext cx="3886200" cy="713232"/>
          </a:xfrm>
          <a:prstGeom prst="roundRect">
            <a:avLst>
              <a:gd name="adj" fmla="val 7692"/>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8" name="Shape 6"/>
          <p:cNvSpPr/>
          <p:nvPr/>
        </p:nvSpPr>
        <p:spPr>
          <a:xfrm>
            <a:off x="640080" y="1984248"/>
            <a:ext cx="502920" cy="502920"/>
          </a:xfrm>
          <a:prstGeom prst="roundRect">
            <a:avLst>
              <a:gd name="adj" fmla="val 7273"/>
            </a:avLst>
          </a:prstGeom>
          <a:solidFill>
            <a:srgbClr val="2A345A"/>
          </a:solidFill>
          <a:ln/>
        </p:spPr>
      </p:sp>
      <p:sp>
        <p:nvSpPr>
          <p:cNvPr id="9" name="Text 7"/>
          <p:cNvSpPr/>
          <p:nvPr/>
        </p:nvSpPr>
        <p:spPr>
          <a:xfrm>
            <a:off x="640080" y="1984248"/>
            <a:ext cx="502920" cy="502920"/>
          </a:xfrm>
          <a:prstGeom prst="rect">
            <a:avLst/>
          </a:prstGeom>
          <a:noFill/>
          <a:ln/>
        </p:spPr>
        <p:txBody>
          <a:bodyPr wrap="square" rtlCol="0" anchor="ctr">
            <a:normAutofit/>
          </a:bodyPr>
          <a:lstStyle/>
          <a:p>
            <a:pPr marL="0" indent="0" algn="ctr">
              <a:buNone/>
            </a:pPr>
            <a:r>
              <a:rPr lang="en-US" sz="2000" b="1" dirty="0">
                <a:solidFill>
                  <a:schemeClr val="bg1"/>
                </a:solidFill>
                <a:latin typeface="DejaVu Sans" pitchFamily="34" charset="0"/>
                <a:ea typeface="DejaVu Sans" pitchFamily="34" charset="-122"/>
                <a:cs typeface="DejaVu Sans" pitchFamily="34" charset="-120"/>
              </a:rPr>
              <a:t>★</a:t>
            </a:r>
            <a:endParaRPr lang="en-US" sz="2000" dirty="0">
              <a:solidFill>
                <a:schemeClr val="bg1"/>
              </a:solidFill>
            </a:endParaRPr>
          </a:p>
        </p:txBody>
      </p:sp>
      <p:sp>
        <p:nvSpPr>
          <p:cNvPr id="10" name="Text 8"/>
          <p:cNvSpPr/>
          <p:nvPr/>
        </p:nvSpPr>
        <p:spPr>
          <a:xfrm>
            <a:off x="1280160" y="1965960"/>
            <a:ext cx="3017520" cy="274320"/>
          </a:xfrm>
          <a:prstGeom prst="rect">
            <a:avLst/>
          </a:prstGeom>
          <a:noFill/>
          <a:ln/>
        </p:spPr>
        <p:txBody>
          <a:bodyPr wrap="square" rtlCol="0" anchor="ctr"/>
          <a:lstStyle/>
          <a:p>
            <a:pPr marL="0" indent="0" algn="l">
              <a:buNone/>
            </a:pPr>
            <a:r>
              <a:rPr lang="en-US" sz="1250" b="1" dirty="0">
                <a:solidFill>
                  <a:srgbClr val="0E5C8A"/>
                </a:solidFill>
                <a:latin typeface="Cambria" pitchFamily="34" charset="0"/>
                <a:ea typeface="Cambria" pitchFamily="34" charset="-122"/>
                <a:cs typeface="Cambria" pitchFamily="34" charset="-120"/>
              </a:rPr>
              <a:t>VIP Airport Assistance</a:t>
            </a:r>
            <a:endParaRPr lang="en-US" sz="1250" dirty="0"/>
          </a:p>
        </p:txBody>
      </p:sp>
      <p:sp>
        <p:nvSpPr>
          <p:cNvPr id="11" name="Text 9"/>
          <p:cNvSpPr/>
          <p:nvPr/>
        </p:nvSpPr>
        <p:spPr>
          <a:xfrm>
            <a:off x="1280160" y="2221992"/>
            <a:ext cx="3017520" cy="320040"/>
          </a:xfrm>
          <a:prstGeom prst="rect">
            <a:avLst/>
          </a:prstGeom>
          <a:noFill/>
          <a:ln/>
        </p:spPr>
        <p:txBody>
          <a:bodyPr wrap="square" rtlCol="0" anchor="t"/>
          <a:lstStyle/>
          <a:p>
            <a:pPr marL="0" indent="0" algn="l">
              <a:buNone/>
            </a:pPr>
            <a:r>
              <a:rPr lang="en-US" sz="950" dirty="0">
                <a:solidFill>
                  <a:srgbClr val="1A2533"/>
                </a:solidFill>
                <a:latin typeface="Calibri" pitchFamily="34" charset="0"/>
                <a:ea typeface="Calibri" pitchFamily="34" charset="-122"/>
                <a:cs typeface="Calibri" pitchFamily="34" charset="-120"/>
              </a:rPr>
              <a:t>Personalized airport assistance by professional greeters — smooth check-in, immigration, and boarding.</a:t>
            </a:r>
            <a:endParaRPr lang="en-US" sz="950" dirty="0"/>
          </a:p>
        </p:txBody>
      </p:sp>
      <p:sp>
        <p:nvSpPr>
          <p:cNvPr id="12" name="Shape 10"/>
          <p:cNvSpPr/>
          <p:nvPr/>
        </p:nvSpPr>
        <p:spPr>
          <a:xfrm>
            <a:off x="548640" y="2660904"/>
            <a:ext cx="3886200" cy="713232"/>
          </a:xfrm>
          <a:prstGeom prst="roundRect">
            <a:avLst>
              <a:gd name="adj" fmla="val 7692"/>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3" name="Shape 11"/>
          <p:cNvSpPr/>
          <p:nvPr/>
        </p:nvSpPr>
        <p:spPr>
          <a:xfrm>
            <a:off x="640080" y="2770632"/>
            <a:ext cx="502920" cy="502920"/>
          </a:xfrm>
          <a:prstGeom prst="roundRect">
            <a:avLst>
              <a:gd name="adj" fmla="val 7273"/>
            </a:avLst>
          </a:prstGeom>
          <a:solidFill>
            <a:srgbClr val="2A345A"/>
          </a:solidFill>
          <a:ln/>
        </p:spPr>
      </p:sp>
      <p:sp>
        <p:nvSpPr>
          <p:cNvPr id="14" name="Text 12"/>
          <p:cNvSpPr/>
          <p:nvPr/>
        </p:nvSpPr>
        <p:spPr>
          <a:xfrm>
            <a:off x="640080" y="2770632"/>
            <a:ext cx="502920" cy="502920"/>
          </a:xfrm>
          <a:prstGeom prst="rect">
            <a:avLst/>
          </a:prstGeom>
          <a:noFill/>
          <a:ln/>
        </p:spPr>
        <p:txBody>
          <a:bodyPr wrap="square" rtlCol="0" anchor="ctr">
            <a:normAutofit/>
          </a:bodyPr>
          <a:lstStyle/>
          <a:p>
            <a:pPr marL="0" indent="0" algn="ctr">
              <a:buNone/>
            </a:pPr>
            <a:r>
              <a:rPr lang="en-US" sz="2000" b="1" dirty="0">
                <a:solidFill>
                  <a:schemeClr val="bg1"/>
                </a:solidFill>
                <a:latin typeface="DejaVu Sans" pitchFamily="34" charset="0"/>
                <a:ea typeface="DejaVu Sans" pitchFamily="34" charset="-122"/>
                <a:cs typeface="DejaVu Sans" pitchFamily="34" charset="-120"/>
              </a:rPr>
              <a:t>◆</a:t>
            </a:r>
            <a:endParaRPr lang="en-US" sz="2000" dirty="0">
              <a:solidFill>
                <a:schemeClr val="bg1"/>
              </a:solidFill>
            </a:endParaRPr>
          </a:p>
        </p:txBody>
      </p:sp>
      <p:sp>
        <p:nvSpPr>
          <p:cNvPr id="15" name="Text 13"/>
          <p:cNvSpPr/>
          <p:nvPr/>
        </p:nvSpPr>
        <p:spPr>
          <a:xfrm>
            <a:off x="1280160" y="2752344"/>
            <a:ext cx="3017520" cy="274320"/>
          </a:xfrm>
          <a:prstGeom prst="rect">
            <a:avLst/>
          </a:prstGeom>
          <a:noFill/>
          <a:ln/>
        </p:spPr>
        <p:txBody>
          <a:bodyPr wrap="square" rtlCol="0" anchor="ctr"/>
          <a:lstStyle/>
          <a:p>
            <a:pPr marL="0" indent="0" algn="l">
              <a:buNone/>
            </a:pPr>
            <a:r>
              <a:rPr lang="en-US" sz="1250" b="1" dirty="0">
                <a:solidFill>
                  <a:srgbClr val="0E5C8A"/>
                </a:solidFill>
                <a:latin typeface="Cambria" pitchFamily="34" charset="0"/>
                <a:ea typeface="Cambria" pitchFamily="34" charset="-122"/>
                <a:cs typeface="Cambria" pitchFamily="34" charset="-120"/>
              </a:rPr>
              <a:t>MICE Services</a:t>
            </a:r>
            <a:endParaRPr lang="en-US" sz="1250" dirty="0"/>
          </a:p>
        </p:txBody>
      </p:sp>
      <p:sp>
        <p:nvSpPr>
          <p:cNvPr id="16" name="Text 14"/>
          <p:cNvSpPr/>
          <p:nvPr/>
        </p:nvSpPr>
        <p:spPr>
          <a:xfrm>
            <a:off x="1280160" y="3008376"/>
            <a:ext cx="3017520" cy="320040"/>
          </a:xfrm>
          <a:prstGeom prst="rect">
            <a:avLst/>
          </a:prstGeom>
          <a:noFill/>
          <a:ln/>
        </p:spPr>
        <p:txBody>
          <a:bodyPr wrap="square" rtlCol="0" anchor="t"/>
          <a:lstStyle/>
          <a:p>
            <a:pPr marL="0" indent="0" algn="l">
              <a:buNone/>
            </a:pPr>
            <a:r>
              <a:rPr lang="en-US" sz="950" dirty="0">
                <a:solidFill>
                  <a:srgbClr val="1A2533"/>
                </a:solidFill>
                <a:latin typeface="Calibri" pitchFamily="34" charset="0"/>
                <a:ea typeface="Calibri" pitchFamily="34" charset="-122"/>
                <a:cs typeface="Calibri" pitchFamily="34" charset="-120"/>
              </a:rPr>
              <a:t>Complete meeting, incentive, conference &amp; event travel management — venue to delegate logistics.</a:t>
            </a:r>
            <a:endParaRPr lang="en-US" sz="950" dirty="0"/>
          </a:p>
        </p:txBody>
      </p:sp>
      <p:sp>
        <p:nvSpPr>
          <p:cNvPr id="17" name="Shape 15"/>
          <p:cNvSpPr/>
          <p:nvPr/>
        </p:nvSpPr>
        <p:spPr>
          <a:xfrm>
            <a:off x="548640" y="3447288"/>
            <a:ext cx="3886200" cy="713232"/>
          </a:xfrm>
          <a:prstGeom prst="roundRect">
            <a:avLst>
              <a:gd name="adj" fmla="val 7692"/>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8" name="Shape 16"/>
          <p:cNvSpPr/>
          <p:nvPr/>
        </p:nvSpPr>
        <p:spPr>
          <a:xfrm>
            <a:off x="640080" y="3557016"/>
            <a:ext cx="502920" cy="502920"/>
          </a:xfrm>
          <a:prstGeom prst="roundRect">
            <a:avLst>
              <a:gd name="adj" fmla="val 7273"/>
            </a:avLst>
          </a:prstGeom>
          <a:solidFill>
            <a:srgbClr val="2A345A"/>
          </a:solidFill>
          <a:ln/>
        </p:spPr>
      </p:sp>
      <p:sp>
        <p:nvSpPr>
          <p:cNvPr id="19" name="Text 17"/>
          <p:cNvSpPr/>
          <p:nvPr/>
        </p:nvSpPr>
        <p:spPr>
          <a:xfrm>
            <a:off x="640080" y="3557016"/>
            <a:ext cx="502920" cy="502920"/>
          </a:xfrm>
          <a:prstGeom prst="rect">
            <a:avLst/>
          </a:prstGeom>
          <a:noFill/>
          <a:ln/>
        </p:spPr>
        <p:txBody>
          <a:bodyPr wrap="square" rtlCol="0" anchor="ctr">
            <a:normAutofit/>
          </a:bodyPr>
          <a:lstStyle/>
          <a:p>
            <a:pPr marL="0" indent="0" algn="ctr">
              <a:buNone/>
            </a:pPr>
            <a:r>
              <a:rPr lang="en-US" sz="2000" b="1" dirty="0">
                <a:solidFill>
                  <a:schemeClr val="bg1"/>
                </a:solidFill>
                <a:latin typeface="DejaVu Sans" pitchFamily="34" charset="0"/>
                <a:ea typeface="DejaVu Sans" pitchFamily="34" charset="-122"/>
                <a:cs typeface="DejaVu Sans" pitchFamily="34" charset="-120"/>
              </a:rPr>
              <a:t>✈</a:t>
            </a:r>
            <a:endParaRPr lang="en-US" sz="2000" dirty="0">
              <a:solidFill>
                <a:schemeClr val="bg1"/>
              </a:solidFill>
            </a:endParaRPr>
          </a:p>
        </p:txBody>
      </p:sp>
      <p:sp>
        <p:nvSpPr>
          <p:cNvPr id="20" name="Text 18"/>
          <p:cNvSpPr/>
          <p:nvPr/>
        </p:nvSpPr>
        <p:spPr>
          <a:xfrm>
            <a:off x="1280160" y="3538728"/>
            <a:ext cx="3017520" cy="274320"/>
          </a:xfrm>
          <a:prstGeom prst="rect">
            <a:avLst/>
          </a:prstGeom>
          <a:noFill/>
          <a:ln/>
        </p:spPr>
        <p:txBody>
          <a:bodyPr wrap="square" rtlCol="0" anchor="ctr"/>
          <a:lstStyle/>
          <a:p>
            <a:pPr marL="0" indent="0" algn="l">
              <a:buNone/>
            </a:pPr>
            <a:r>
              <a:rPr lang="en-US" sz="1250" b="1" dirty="0">
                <a:solidFill>
                  <a:srgbClr val="0E5C8A"/>
                </a:solidFill>
                <a:latin typeface="Cambria" pitchFamily="34" charset="0"/>
                <a:ea typeface="Cambria" pitchFamily="34" charset="-122"/>
                <a:cs typeface="Cambria" pitchFamily="34" charset="-120"/>
              </a:rPr>
              <a:t>Chartered Flight</a:t>
            </a:r>
            <a:endParaRPr lang="en-US" sz="1250" dirty="0"/>
          </a:p>
        </p:txBody>
      </p:sp>
      <p:sp>
        <p:nvSpPr>
          <p:cNvPr id="21" name="Text 19"/>
          <p:cNvSpPr/>
          <p:nvPr/>
        </p:nvSpPr>
        <p:spPr>
          <a:xfrm>
            <a:off x="1280160" y="3794760"/>
            <a:ext cx="3017520" cy="320040"/>
          </a:xfrm>
          <a:prstGeom prst="rect">
            <a:avLst/>
          </a:prstGeom>
          <a:noFill/>
          <a:ln/>
        </p:spPr>
        <p:txBody>
          <a:bodyPr wrap="square" rtlCol="0" anchor="t"/>
          <a:lstStyle/>
          <a:p>
            <a:pPr marL="0" indent="0" algn="l">
              <a:buNone/>
            </a:pPr>
            <a:r>
              <a:rPr lang="en-US" sz="950" dirty="0">
                <a:solidFill>
                  <a:srgbClr val="1A2533"/>
                </a:solidFill>
                <a:latin typeface="Calibri" pitchFamily="34" charset="0"/>
                <a:ea typeface="Calibri" pitchFamily="34" charset="-122"/>
                <a:cs typeface="Calibri" pitchFamily="34" charset="-120"/>
              </a:rPr>
              <a:t>On-demand chartered flights for groups, executive travel, and time-sensitive itineraries.</a:t>
            </a:r>
            <a:endParaRPr lang="en-US" sz="950" dirty="0"/>
          </a:p>
        </p:txBody>
      </p:sp>
      <p:sp>
        <p:nvSpPr>
          <p:cNvPr id="22" name="Shape 20"/>
          <p:cNvSpPr/>
          <p:nvPr/>
        </p:nvSpPr>
        <p:spPr>
          <a:xfrm>
            <a:off x="548640" y="4233672"/>
            <a:ext cx="3886200" cy="713232"/>
          </a:xfrm>
          <a:prstGeom prst="roundRect">
            <a:avLst>
              <a:gd name="adj" fmla="val 7692"/>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23" name="Shape 21"/>
          <p:cNvSpPr/>
          <p:nvPr/>
        </p:nvSpPr>
        <p:spPr>
          <a:xfrm>
            <a:off x="640080" y="4343400"/>
            <a:ext cx="502920" cy="502920"/>
          </a:xfrm>
          <a:prstGeom prst="roundRect">
            <a:avLst>
              <a:gd name="adj" fmla="val 7273"/>
            </a:avLst>
          </a:prstGeom>
          <a:solidFill>
            <a:srgbClr val="2A345A"/>
          </a:solidFill>
          <a:ln/>
        </p:spPr>
      </p:sp>
      <p:sp>
        <p:nvSpPr>
          <p:cNvPr id="24" name="Text 22"/>
          <p:cNvSpPr/>
          <p:nvPr/>
        </p:nvSpPr>
        <p:spPr>
          <a:xfrm>
            <a:off x="640080" y="4343400"/>
            <a:ext cx="502920" cy="502920"/>
          </a:xfrm>
          <a:prstGeom prst="rect">
            <a:avLst/>
          </a:prstGeom>
          <a:noFill/>
          <a:ln/>
        </p:spPr>
        <p:txBody>
          <a:bodyPr wrap="square" rtlCol="0" anchor="ctr">
            <a:normAutofit/>
          </a:bodyPr>
          <a:lstStyle/>
          <a:p>
            <a:pPr marL="0" indent="0" algn="ctr">
              <a:buNone/>
            </a:pPr>
            <a:r>
              <a:rPr lang="en-US" sz="1600" b="1" dirty="0">
                <a:solidFill>
                  <a:schemeClr val="bg1"/>
                </a:solidFill>
                <a:latin typeface="DejaVu Sans" pitchFamily="34" charset="0"/>
                <a:ea typeface="DejaVu Sans" pitchFamily="34" charset="-122"/>
                <a:cs typeface="DejaVu Sans" pitchFamily="34" charset="-120"/>
              </a:rPr>
              <a:t>⛨</a:t>
            </a:r>
            <a:endParaRPr lang="en-US" sz="1600" dirty="0">
              <a:solidFill>
                <a:schemeClr val="bg1"/>
              </a:solidFill>
            </a:endParaRPr>
          </a:p>
        </p:txBody>
      </p:sp>
      <p:sp>
        <p:nvSpPr>
          <p:cNvPr id="25" name="Text 23"/>
          <p:cNvSpPr/>
          <p:nvPr/>
        </p:nvSpPr>
        <p:spPr>
          <a:xfrm>
            <a:off x="1280160" y="4325112"/>
            <a:ext cx="3017520" cy="274320"/>
          </a:xfrm>
          <a:prstGeom prst="rect">
            <a:avLst/>
          </a:prstGeom>
          <a:noFill/>
          <a:ln/>
        </p:spPr>
        <p:txBody>
          <a:bodyPr wrap="square" rtlCol="0" anchor="ctr"/>
          <a:lstStyle/>
          <a:p>
            <a:pPr marL="0" indent="0" algn="l">
              <a:buNone/>
            </a:pPr>
            <a:r>
              <a:rPr lang="en-US" sz="1250" b="1" dirty="0">
                <a:solidFill>
                  <a:srgbClr val="0E5C8A"/>
                </a:solidFill>
                <a:latin typeface="Cambria" pitchFamily="34" charset="0"/>
                <a:ea typeface="Cambria" pitchFamily="34" charset="-122"/>
                <a:cs typeface="Cambria" pitchFamily="34" charset="-120"/>
              </a:rPr>
              <a:t>Travel Insurance</a:t>
            </a:r>
            <a:endParaRPr lang="en-US" sz="1250" dirty="0"/>
          </a:p>
        </p:txBody>
      </p:sp>
      <p:sp>
        <p:nvSpPr>
          <p:cNvPr id="26" name="Text 24"/>
          <p:cNvSpPr/>
          <p:nvPr/>
        </p:nvSpPr>
        <p:spPr>
          <a:xfrm>
            <a:off x="1280160" y="4581144"/>
            <a:ext cx="3017520" cy="320040"/>
          </a:xfrm>
          <a:prstGeom prst="rect">
            <a:avLst/>
          </a:prstGeom>
          <a:noFill/>
          <a:ln/>
        </p:spPr>
        <p:txBody>
          <a:bodyPr wrap="square" rtlCol="0" anchor="t"/>
          <a:lstStyle/>
          <a:p>
            <a:pPr marL="0" indent="0" algn="l">
              <a:buNone/>
            </a:pPr>
            <a:r>
              <a:rPr lang="en-US" sz="950" dirty="0">
                <a:solidFill>
                  <a:srgbClr val="1A2533"/>
                </a:solidFill>
                <a:latin typeface="Calibri" pitchFamily="34" charset="0"/>
                <a:ea typeface="Calibri" pitchFamily="34" charset="-122"/>
                <a:cs typeface="Calibri" pitchFamily="34" charset="-120"/>
              </a:rPr>
              <a:t>Comprehensive coverage — medical, trip cancellation, baggage, and emergency evacuation.</a:t>
            </a:r>
            <a:endParaRPr lang="en-US" sz="950" dirty="0"/>
          </a:p>
        </p:txBody>
      </p:sp>
      <p:sp>
        <p:nvSpPr>
          <p:cNvPr id="27" name="Shape 25"/>
          <p:cNvSpPr/>
          <p:nvPr/>
        </p:nvSpPr>
        <p:spPr>
          <a:xfrm>
            <a:off x="4709160" y="1874520"/>
            <a:ext cx="3886200" cy="713232"/>
          </a:xfrm>
          <a:prstGeom prst="roundRect">
            <a:avLst>
              <a:gd name="adj" fmla="val 7692"/>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28" name="Shape 26"/>
          <p:cNvSpPr/>
          <p:nvPr/>
        </p:nvSpPr>
        <p:spPr>
          <a:xfrm>
            <a:off x="4800600" y="1984248"/>
            <a:ext cx="502920" cy="502920"/>
          </a:xfrm>
          <a:prstGeom prst="roundRect">
            <a:avLst>
              <a:gd name="adj" fmla="val 7273"/>
            </a:avLst>
          </a:prstGeom>
          <a:solidFill>
            <a:srgbClr val="2A345A"/>
          </a:solidFill>
          <a:ln/>
        </p:spPr>
      </p:sp>
      <p:sp>
        <p:nvSpPr>
          <p:cNvPr id="29" name="Text 27"/>
          <p:cNvSpPr/>
          <p:nvPr/>
        </p:nvSpPr>
        <p:spPr>
          <a:xfrm>
            <a:off x="4800600" y="1984248"/>
            <a:ext cx="502920" cy="502920"/>
          </a:xfrm>
          <a:prstGeom prst="rect">
            <a:avLst/>
          </a:prstGeom>
          <a:noFill/>
          <a:ln/>
        </p:spPr>
        <p:txBody>
          <a:bodyPr wrap="square" rtlCol="0" anchor="ctr">
            <a:normAutofit/>
          </a:bodyPr>
          <a:lstStyle/>
          <a:p>
            <a:pPr marL="0" indent="0" algn="ctr">
              <a:buNone/>
            </a:pPr>
            <a:endParaRPr lang="en-US" sz="1600" dirty="0">
              <a:solidFill>
                <a:schemeClr val="bg1"/>
              </a:solidFill>
            </a:endParaRPr>
          </a:p>
        </p:txBody>
      </p:sp>
      <p:sp>
        <p:nvSpPr>
          <p:cNvPr id="30" name="Text 28"/>
          <p:cNvSpPr/>
          <p:nvPr/>
        </p:nvSpPr>
        <p:spPr>
          <a:xfrm>
            <a:off x="5440680" y="1965960"/>
            <a:ext cx="3017520" cy="274320"/>
          </a:xfrm>
          <a:prstGeom prst="rect">
            <a:avLst/>
          </a:prstGeom>
          <a:noFill/>
          <a:ln/>
        </p:spPr>
        <p:txBody>
          <a:bodyPr wrap="square" rtlCol="0" anchor="ctr"/>
          <a:lstStyle/>
          <a:p>
            <a:pPr marL="0" indent="0" algn="l">
              <a:buNone/>
            </a:pPr>
            <a:r>
              <a:rPr lang="en-US" sz="1250" b="1" dirty="0">
                <a:solidFill>
                  <a:srgbClr val="0E5C8A"/>
                </a:solidFill>
                <a:latin typeface="Cambria" pitchFamily="34" charset="0"/>
                <a:ea typeface="Cambria" pitchFamily="34" charset="-122"/>
                <a:cs typeface="Cambria" pitchFamily="34" charset="-120"/>
              </a:rPr>
              <a:t>Fast Response</a:t>
            </a:r>
            <a:endParaRPr lang="en-US" sz="1250" dirty="0"/>
          </a:p>
        </p:txBody>
      </p:sp>
      <p:sp>
        <p:nvSpPr>
          <p:cNvPr id="31" name="Text 29"/>
          <p:cNvSpPr/>
          <p:nvPr/>
        </p:nvSpPr>
        <p:spPr>
          <a:xfrm>
            <a:off x="5440680" y="2221992"/>
            <a:ext cx="3017520" cy="320040"/>
          </a:xfrm>
          <a:prstGeom prst="rect">
            <a:avLst/>
          </a:prstGeom>
          <a:noFill/>
          <a:ln/>
        </p:spPr>
        <p:txBody>
          <a:bodyPr wrap="square" rtlCol="0" anchor="t"/>
          <a:lstStyle/>
          <a:p>
            <a:pPr marL="0" indent="0" algn="l">
              <a:buNone/>
            </a:pPr>
            <a:r>
              <a:rPr lang="en-US" sz="950" dirty="0">
                <a:solidFill>
                  <a:srgbClr val="1A2533"/>
                </a:solidFill>
                <a:latin typeface="Calibri" pitchFamily="34" charset="0"/>
                <a:ea typeface="Calibri" pitchFamily="34" charset="-122"/>
                <a:cs typeface="Calibri" pitchFamily="34" charset="-120"/>
              </a:rPr>
              <a:t>WhatsApp support available 24/7 for quick assistance and last-minute changes.</a:t>
            </a:r>
            <a:endParaRPr lang="en-US" sz="950" dirty="0"/>
          </a:p>
        </p:txBody>
      </p:sp>
      <p:sp>
        <p:nvSpPr>
          <p:cNvPr id="32" name="Shape 30"/>
          <p:cNvSpPr/>
          <p:nvPr/>
        </p:nvSpPr>
        <p:spPr>
          <a:xfrm>
            <a:off x="4709160" y="2660904"/>
            <a:ext cx="3886200" cy="713232"/>
          </a:xfrm>
          <a:prstGeom prst="roundRect">
            <a:avLst>
              <a:gd name="adj" fmla="val 7692"/>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33" name="Shape 31"/>
          <p:cNvSpPr/>
          <p:nvPr/>
        </p:nvSpPr>
        <p:spPr>
          <a:xfrm>
            <a:off x="4800600" y="2770632"/>
            <a:ext cx="502920" cy="502920"/>
          </a:xfrm>
          <a:prstGeom prst="roundRect">
            <a:avLst>
              <a:gd name="adj" fmla="val 7273"/>
            </a:avLst>
          </a:prstGeom>
          <a:solidFill>
            <a:srgbClr val="2A345A"/>
          </a:solidFill>
          <a:ln/>
        </p:spPr>
      </p:sp>
      <p:sp>
        <p:nvSpPr>
          <p:cNvPr id="34" name="Text 32"/>
          <p:cNvSpPr/>
          <p:nvPr/>
        </p:nvSpPr>
        <p:spPr>
          <a:xfrm>
            <a:off x="4800600" y="2770632"/>
            <a:ext cx="502920" cy="502920"/>
          </a:xfrm>
          <a:prstGeom prst="rect">
            <a:avLst/>
          </a:prstGeom>
          <a:noFill/>
          <a:ln/>
        </p:spPr>
        <p:txBody>
          <a:bodyPr wrap="square" rtlCol="0" anchor="ctr">
            <a:normAutofit/>
          </a:bodyPr>
          <a:lstStyle/>
          <a:p>
            <a:pPr marL="0" indent="0" algn="ctr">
              <a:buNone/>
            </a:pPr>
            <a:endParaRPr lang="en-US" sz="1600" dirty="0"/>
          </a:p>
        </p:txBody>
      </p:sp>
      <p:sp>
        <p:nvSpPr>
          <p:cNvPr id="35" name="Text 33"/>
          <p:cNvSpPr/>
          <p:nvPr/>
        </p:nvSpPr>
        <p:spPr>
          <a:xfrm>
            <a:off x="5440680" y="2752344"/>
            <a:ext cx="3017520" cy="274320"/>
          </a:xfrm>
          <a:prstGeom prst="rect">
            <a:avLst/>
          </a:prstGeom>
          <a:noFill/>
          <a:ln/>
        </p:spPr>
        <p:txBody>
          <a:bodyPr wrap="square" rtlCol="0" anchor="ctr"/>
          <a:lstStyle/>
          <a:p>
            <a:pPr marL="0" indent="0" algn="l">
              <a:buNone/>
            </a:pPr>
            <a:r>
              <a:rPr lang="en-US" sz="1250" b="1" dirty="0">
                <a:solidFill>
                  <a:srgbClr val="0E5C8A"/>
                </a:solidFill>
                <a:latin typeface="Cambria" pitchFamily="34" charset="0"/>
                <a:ea typeface="Cambria" pitchFamily="34" charset="-122"/>
                <a:cs typeface="Cambria" pitchFamily="34" charset="-120"/>
              </a:rPr>
              <a:t>Local &amp; Multinational Support</a:t>
            </a:r>
            <a:endParaRPr lang="en-US" sz="1250" dirty="0"/>
          </a:p>
        </p:txBody>
      </p:sp>
      <p:sp>
        <p:nvSpPr>
          <p:cNvPr id="36" name="Text 34"/>
          <p:cNvSpPr/>
          <p:nvPr/>
        </p:nvSpPr>
        <p:spPr>
          <a:xfrm>
            <a:off x="5440680" y="3008376"/>
            <a:ext cx="3017520" cy="320040"/>
          </a:xfrm>
          <a:prstGeom prst="rect">
            <a:avLst/>
          </a:prstGeom>
          <a:noFill/>
          <a:ln/>
        </p:spPr>
        <p:txBody>
          <a:bodyPr wrap="square" rtlCol="0" anchor="t"/>
          <a:lstStyle/>
          <a:p>
            <a:pPr marL="0" indent="0" algn="l">
              <a:buNone/>
            </a:pPr>
            <a:r>
              <a:rPr lang="en-US" sz="950" dirty="0">
                <a:solidFill>
                  <a:srgbClr val="1A2533"/>
                </a:solidFill>
                <a:latin typeface="Calibri" pitchFamily="34" charset="0"/>
                <a:ea typeface="Calibri" pitchFamily="34" charset="-122"/>
                <a:cs typeface="Calibri" pitchFamily="34" charset="-120"/>
              </a:rPr>
              <a:t>In-country and cross-border assistance for local and multinational clients.</a:t>
            </a:r>
            <a:endParaRPr lang="en-US" sz="950" dirty="0"/>
          </a:p>
        </p:txBody>
      </p:sp>
      <p:sp>
        <p:nvSpPr>
          <p:cNvPr id="37" name="Shape 35"/>
          <p:cNvSpPr/>
          <p:nvPr/>
        </p:nvSpPr>
        <p:spPr>
          <a:xfrm>
            <a:off x="4709160" y="3447288"/>
            <a:ext cx="3886200" cy="713232"/>
          </a:xfrm>
          <a:prstGeom prst="roundRect">
            <a:avLst>
              <a:gd name="adj" fmla="val 7692"/>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38" name="Shape 36"/>
          <p:cNvSpPr/>
          <p:nvPr/>
        </p:nvSpPr>
        <p:spPr>
          <a:xfrm>
            <a:off x="4800600" y="3557016"/>
            <a:ext cx="502920" cy="502920"/>
          </a:xfrm>
          <a:prstGeom prst="roundRect">
            <a:avLst>
              <a:gd name="adj" fmla="val 7273"/>
            </a:avLst>
          </a:prstGeom>
          <a:solidFill>
            <a:srgbClr val="2A345A"/>
          </a:solidFill>
          <a:ln/>
        </p:spPr>
      </p:sp>
      <p:sp>
        <p:nvSpPr>
          <p:cNvPr id="39" name="Text 37"/>
          <p:cNvSpPr/>
          <p:nvPr/>
        </p:nvSpPr>
        <p:spPr>
          <a:xfrm>
            <a:off x="4800600" y="3557016"/>
            <a:ext cx="502920" cy="502920"/>
          </a:xfrm>
          <a:prstGeom prst="rect">
            <a:avLst/>
          </a:prstGeom>
          <a:noFill/>
          <a:ln/>
        </p:spPr>
        <p:txBody>
          <a:bodyPr wrap="square" rtlCol="0" anchor="ctr">
            <a:normAutofit/>
          </a:bodyPr>
          <a:lstStyle/>
          <a:p>
            <a:pPr marL="0" indent="0" algn="ctr">
              <a:buNone/>
            </a:pPr>
            <a:r>
              <a:rPr lang="en-US" sz="2000" b="1" dirty="0">
                <a:solidFill>
                  <a:schemeClr val="bg1"/>
                </a:solidFill>
                <a:latin typeface="DejaVu Sans" pitchFamily="34" charset="0"/>
                <a:ea typeface="DejaVu Sans" pitchFamily="34" charset="-122"/>
                <a:cs typeface="DejaVu Sans" pitchFamily="34" charset="-120"/>
              </a:rPr>
              <a:t>❖</a:t>
            </a:r>
            <a:endParaRPr lang="en-US" sz="2000" dirty="0">
              <a:solidFill>
                <a:schemeClr val="bg1"/>
              </a:solidFill>
            </a:endParaRPr>
          </a:p>
        </p:txBody>
      </p:sp>
      <p:sp>
        <p:nvSpPr>
          <p:cNvPr id="40" name="Text 38"/>
          <p:cNvSpPr/>
          <p:nvPr/>
        </p:nvSpPr>
        <p:spPr>
          <a:xfrm>
            <a:off x="5440680" y="3538728"/>
            <a:ext cx="3017520" cy="274320"/>
          </a:xfrm>
          <a:prstGeom prst="rect">
            <a:avLst/>
          </a:prstGeom>
          <a:noFill/>
          <a:ln/>
        </p:spPr>
        <p:txBody>
          <a:bodyPr wrap="square" rtlCol="0" anchor="ctr"/>
          <a:lstStyle/>
          <a:p>
            <a:pPr marL="0" indent="0" algn="l">
              <a:buNone/>
            </a:pPr>
            <a:r>
              <a:rPr lang="en-US" sz="1250" b="1" dirty="0">
                <a:solidFill>
                  <a:srgbClr val="0E5C8A"/>
                </a:solidFill>
                <a:latin typeface="Cambria" pitchFamily="34" charset="0"/>
                <a:ea typeface="Cambria" pitchFamily="34" charset="-122"/>
                <a:cs typeface="Cambria" pitchFamily="34" charset="-120"/>
              </a:rPr>
              <a:t>Personalized Travel Solutions</a:t>
            </a:r>
            <a:endParaRPr lang="en-US" sz="1250" dirty="0"/>
          </a:p>
        </p:txBody>
      </p:sp>
      <p:sp>
        <p:nvSpPr>
          <p:cNvPr id="41" name="Text 39"/>
          <p:cNvSpPr/>
          <p:nvPr/>
        </p:nvSpPr>
        <p:spPr>
          <a:xfrm>
            <a:off x="5440680" y="3794760"/>
            <a:ext cx="3017520" cy="320040"/>
          </a:xfrm>
          <a:prstGeom prst="rect">
            <a:avLst/>
          </a:prstGeom>
          <a:noFill/>
          <a:ln/>
        </p:spPr>
        <p:txBody>
          <a:bodyPr wrap="square" rtlCol="0" anchor="t"/>
          <a:lstStyle/>
          <a:p>
            <a:pPr marL="0" indent="0" algn="l">
              <a:buNone/>
            </a:pPr>
            <a:r>
              <a:rPr lang="en-US" sz="950" dirty="0">
                <a:solidFill>
                  <a:srgbClr val="1A2533"/>
                </a:solidFill>
                <a:latin typeface="Calibri" pitchFamily="34" charset="0"/>
                <a:ea typeface="Calibri" pitchFamily="34" charset="-122"/>
                <a:cs typeface="Calibri" pitchFamily="34" charset="-120"/>
              </a:rPr>
              <a:t>Tailor-made itineraries built around your schedule, preferences, and budget.</a:t>
            </a:r>
            <a:endParaRPr lang="en-US" sz="950" dirty="0"/>
          </a:p>
        </p:txBody>
      </p:sp>
      <p:pic>
        <p:nvPicPr>
          <p:cNvPr id="43" name="Graphic 42" descr="Run">
            <a:extLst>
              <a:ext uri="{FF2B5EF4-FFF2-40B4-BE49-F238E27FC236}">
                <a16:creationId xmlns:a16="http://schemas.microsoft.com/office/drawing/2014/main" id="{C4104C47-9B72-5D92-3645-62774E3D18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59927" y="2052719"/>
            <a:ext cx="338546" cy="338546"/>
          </a:xfrm>
          <a:prstGeom prst="rect">
            <a:avLst/>
          </a:prstGeom>
        </p:spPr>
      </p:pic>
      <p:pic>
        <p:nvPicPr>
          <p:cNvPr id="45" name="Graphic 44" descr="Earth globe Africa and Europe">
            <a:extLst>
              <a:ext uri="{FF2B5EF4-FFF2-40B4-BE49-F238E27FC236}">
                <a16:creationId xmlns:a16="http://schemas.microsoft.com/office/drawing/2014/main" id="{80CFB61A-4039-52E4-22A4-E42D836EA8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73607" y="2853582"/>
            <a:ext cx="339380" cy="339380"/>
          </a:xfrm>
          <a:prstGeom prst="rect">
            <a:avLst/>
          </a:prstGeom>
        </p:spPr>
      </p:pic>
      <p:sp>
        <p:nvSpPr>
          <p:cNvPr id="46" name="Shape 35">
            <a:extLst>
              <a:ext uri="{FF2B5EF4-FFF2-40B4-BE49-F238E27FC236}">
                <a16:creationId xmlns:a16="http://schemas.microsoft.com/office/drawing/2014/main" id="{B905A953-8C01-31B0-96A6-6623D3CF1A06}"/>
              </a:ext>
            </a:extLst>
          </p:cNvPr>
          <p:cNvSpPr/>
          <p:nvPr/>
        </p:nvSpPr>
        <p:spPr>
          <a:xfrm>
            <a:off x="4709160" y="4237591"/>
            <a:ext cx="3886200" cy="713232"/>
          </a:xfrm>
          <a:prstGeom prst="roundRect">
            <a:avLst>
              <a:gd name="adj" fmla="val 7692"/>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47" name="Shape 36">
            <a:extLst>
              <a:ext uri="{FF2B5EF4-FFF2-40B4-BE49-F238E27FC236}">
                <a16:creationId xmlns:a16="http://schemas.microsoft.com/office/drawing/2014/main" id="{D485681D-AF0A-D8FA-406F-8CF395E20A82}"/>
              </a:ext>
            </a:extLst>
          </p:cNvPr>
          <p:cNvSpPr/>
          <p:nvPr/>
        </p:nvSpPr>
        <p:spPr>
          <a:xfrm>
            <a:off x="4800600" y="4347319"/>
            <a:ext cx="502920" cy="502920"/>
          </a:xfrm>
          <a:prstGeom prst="roundRect">
            <a:avLst>
              <a:gd name="adj" fmla="val 7273"/>
            </a:avLst>
          </a:prstGeom>
          <a:solidFill>
            <a:srgbClr val="2A345A"/>
          </a:solidFill>
          <a:ln/>
        </p:spPr>
      </p:sp>
      <p:sp>
        <p:nvSpPr>
          <p:cNvPr id="48" name="Text 37">
            <a:extLst>
              <a:ext uri="{FF2B5EF4-FFF2-40B4-BE49-F238E27FC236}">
                <a16:creationId xmlns:a16="http://schemas.microsoft.com/office/drawing/2014/main" id="{CA51F4FA-F926-5CCA-5F81-B65811625401}"/>
              </a:ext>
            </a:extLst>
          </p:cNvPr>
          <p:cNvSpPr/>
          <p:nvPr/>
        </p:nvSpPr>
        <p:spPr>
          <a:xfrm>
            <a:off x="4800600" y="4347319"/>
            <a:ext cx="502920" cy="502920"/>
          </a:xfrm>
          <a:prstGeom prst="rect">
            <a:avLst/>
          </a:prstGeom>
          <a:noFill/>
          <a:ln/>
        </p:spPr>
        <p:txBody>
          <a:bodyPr wrap="square" rtlCol="0" anchor="ctr">
            <a:normAutofit/>
          </a:bodyPr>
          <a:lstStyle/>
          <a:p>
            <a:pPr marL="0" indent="0" algn="ctr">
              <a:buNone/>
            </a:pPr>
            <a:endParaRPr lang="en-US" sz="2000" dirty="0">
              <a:solidFill>
                <a:schemeClr val="bg1"/>
              </a:solidFill>
            </a:endParaRPr>
          </a:p>
        </p:txBody>
      </p:sp>
      <p:sp>
        <p:nvSpPr>
          <p:cNvPr id="49" name="Text 38">
            <a:extLst>
              <a:ext uri="{FF2B5EF4-FFF2-40B4-BE49-F238E27FC236}">
                <a16:creationId xmlns:a16="http://schemas.microsoft.com/office/drawing/2014/main" id="{7B9B6D19-FC9D-529F-C737-C15BE94AB670}"/>
              </a:ext>
            </a:extLst>
          </p:cNvPr>
          <p:cNvSpPr/>
          <p:nvPr/>
        </p:nvSpPr>
        <p:spPr>
          <a:xfrm>
            <a:off x="5440680" y="4329031"/>
            <a:ext cx="3017520" cy="274320"/>
          </a:xfrm>
          <a:prstGeom prst="rect">
            <a:avLst/>
          </a:prstGeom>
          <a:noFill/>
          <a:ln/>
        </p:spPr>
        <p:txBody>
          <a:bodyPr wrap="square" rtlCol="0" anchor="ctr"/>
          <a:lstStyle/>
          <a:p>
            <a:pPr marL="0" indent="0" algn="l">
              <a:buNone/>
            </a:pPr>
            <a:r>
              <a:rPr lang="en-US" sz="1250" b="1" dirty="0">
                <a:solidFill>
                  <a:srgbClr val="0E5C8A"/>
                </a:solidFill>
                <a:latin typeface="Cambria" pitchFamily="34" charset="0"/>
                <a:ea typeface="Cambria" pitchFamily="34" charset="-122"/>
                <a:cs typeface="Cambria" pitchFamily="34" charset="-120"/>
              </a:rPr>
              <a:t>Expat Employees Management</a:t>
            </a:r>
            <a:endParaRPr lang="en-US" sz="1250" dirty="0"/>
          </a:p>
        </p:txBody>
      </p:sp>
      <p:sp>
        <p:nvSpPr>
          <p:cNvPr id="50" name="Text 39">
            <a:extLst>
              <a:ext uri="{FF2B5EF4-FFF2-40B4-BE49-F238E27FC236}">
                <a16:creationId xmlns:a16="http://schemas.microsoft.com/office/drawing/2014/main" id="{E6E7C32C-F216-EC9A-E0D7-9E88AF36B21D}"/>
              </a:ext>
            </a:extLst>
          </p:cNvPr>
          <p:cNvSpPr/>
          <p:nvPr/>
        </p:nvSpPr>
        <p:spPr>
          <a:xfrm>
            <a:off x="5440680" y="4585063"/>
            <a:ext cx="3017520" cy="320040"/>
          </a:xfrm>
          <a:prstGeom prst="rect">
            <a:avLst/>
          </a:prstGeom>
          <a:noFill/>
          <a:ln/>
        </p:spPr>
        <p:txBody>
          <a:bodyPr wrap="square" rtlCol="0" anchor="t"/>
          <a:lstStyle/>
          <a:p>
            <a:r>
              <a:rPr lang="en-US" sz="950" dirty="0">
                <a:solidFill>
                  <a:srgbClr val="1A2533"/>
                </a:solidFill>
                <a:latin typeface="Calibri" pitchFamily="34" charset="0"/>
                <a:ea typeface="Calibri" pitchFamily="34" charset="-122"/>
                <a:cs typeface="Calibri" pitchFamily="34" charset="-120"/>
              </a:rPr>
              <a:t>work permits, security clearance, onboarding, offboarding, and specialized assignments.</a:t>
            </a:r>
          </a:p>
        </p:txBody>
      </p:sp>
      <p:pic>
        <p:nvPicPr>
          <p:cNvPr id="52" name="Graphic 51" descr="Office worker">
            <a:extLst>
              <a:ext uri="{FF2B5EF4-FFF2-40B4-BE49-F238E27FC236}">
                <a16:creationId xmlns:a16="http://schemas.microsoft.com/office/drawing/2014/main" id="{82D994A9-86B0-DCDB-6946-A9C45F15E2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74441" y="4418801"/>
            <a:ext cx="332523" cy="3325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540"/>
          </a:solidFill>
          <a:ln/>
        </p:spPr>
      </p:sp>
      <p:sp>
        <p:nvSpPr>
          <p:cNvPr id="3" name="Shape 1"/>
          <p:cNvSpPr/>
          <p:nvPr/>
        </p:nvSpPr>
        <p:spPr>
          <a:xfrm>
            <a:off x="0" y="1005840"/>
            <a:ext cx="9144000" cy="36576"/>
          </a:xfrm>
          <a:prstGeom prst="rect">
            <a:avLst/>
          </a:prstGeom>
          <a:solidFill>
            <a:srgbClr val="D4A537"/>
          </a:solidFill>
          <a:ln/>
        </p:spPr>
      </p:sp>
      <p:sp>
        <p:nvSpPr>
          <p:cNvPr id="4" name="Text 2"/>
          <p:cNvSpPr/>
          <p:nvPr/>
        </p:nvSpPr>
        <p:spPr>
          <a:xfrm>
            <a:off x="548640" y="274320"/>
            <a:ext cx="6400800" cy="411480"/>
          </a:xfrm>
          <a:prstGeom prst="rect">
            <a:avLst/>
          </a:prstGeom>
          <a:noFill/>
          <a:ln/>
        </p:spPr>
        <p:txBody>
          <a:bodyPr wrap="square" rtlCol="0" anchor="ctr">
            <a:normAutofit fontScale="85000" lnSpcReduction="20000"/>
          </a:bodyPr>
          <a:lstStyle/>
          <a:p>
            <a:pPr marL="0" indent="0">
              <a:buNone/>
            </a:pPr>
            <a:r>
              <a:rPr lang="en-US" sz="2800" b="1" kern="0" spc="400" dirty="0">
                <a:solidFill>
                  <a:srgbClr val="FFFFFF"/>
                </a:solidFill>
                <a:latin typeface="Cambria" pitchFamily="34" charset="0"/>
                <a:ea typeface="Cambria" pitchFamily="34" charset="-122"/>
                <a:cs typeface="Cambria" pitchFamily="34" charset="-120"/>
              </a:rPr>
              <a:t>OUR PARTNER AIRLINES</a:t>
            </a:r>
            <a:endParaRPr lang="en-US" sz="2800" dirty="0"/>
          </a:p>
        </p:txBody>
      </p:sp>
      <p:sp>
        <p:nvSpPr>
          <p:cNvPr id="5" name="Text 3"/>
          <p:cNvSpPr/>
          <p:nvPr/>
        </p:nvSpPr>
        <p:spPr>
          <a:xfrm>
            <a:off x="548640" y="749808"/>
            <a:ext cx="64008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18 GLOBAL AIRLINE PARTNERS</a:t>
            </a:r>
            <a:endParaRPr lang="en-US" sz="1000" dirty="0"/>
          </a:p>
        </p:txBody>
      </p:sp>
      <p:sp>
        <p:nvSpPr>
          <p:cNvPr id="6" name="Shape 4"/>
          <p:cNvSpPr/>
          <p:nvPr/>
        </p:nvSpPr>
        <p:spPr>
          <a:xfrm>
            <a:off x="7772400" y="228600"/>
            <a:ext cx="868680" cy="868680"/>
          </a:xfrm>
          <a:prstGeom prst="ellipse">
            <a:avLst/>
          </a:prstGeom>
          <a:solidFill>
            <a:srgbClr val="D4A537"/>
          </a:solidFill>
          <a:ln/>
        </p:spPr>
      </p:sp>
      <p:sp>
        <p:nvSpPr>
          <p:cNvPr id="7" name="Text 5"/>
          <p:cNvSpPr/>
          <p:nvPr/>
        </p:nvSpPr>
        <p:spPr>
          <a:xfrm>
            <a:off x="7772400" y="228600"/>
            <a:ext cx="868680" cy="868680"/>
          </a:xfrm>
          <a:prstGeom prst="rect">
            <a:avLst/>
          </a:prstGeom>
          <a:noFill/>
          <a:ln/>
        </p:spPr>
        <p:txBody>
          <a:bodyPr wrap="square" rtlCol="0" anchor="ctr">
            <a:normAutofit/>
          </a:bodyPr>
          <a:lstStyle/>
          <a:p>
            <a:pPr marL="0" indent="0" algn="ctr">
              <a:buNone/>
            </a:pPr>
            <a:r>
              <a:rPr lang="en-US" sz="2800" b="1" dirty="0">
                <a:solidFill>
                  <a:srgbClr val="0A2540"/>
                </a:solidFill>
                <a:latin typeface="Cambria" pitchFamily="34" charset="0"/>
                <a:ea typeface="Cambria" pitchFamily="34" charset="-122"/>
                <a:cs typeface="Cambria" pitchFamily="34" charset="-120"/>
              </a:rPr>
              <a:t>18</a:t>
            </a:r>
            <a:endParaRPr lang="en-US" sz="2800" dirty="0"/>
          </a:p>
        </p:txBody>
      </p:sp>
      <p:sp>
        <p:nvSpPr>
          <p:cNvPr id="8" name="Text 6"/>
          <p:cNvSpPr/>
          <p:nvPr/>
        </p:nvSpPr>
        <p:spPr>
          <a:xfrm>
            <a:off x="548640" y="1188720"/>
            <a:ext cx="8046720" cy="365760"/>
          </a:xfrm>
          <a:prstGeom prst="rect">
            <a:avLst/>
          </a:prstGeom>
          <a:noFill/>
          <a:ln/>
        </p:spPr>
        <p:txBody>
          <a:bodyPr wrap="square" rtlCol="0" anchor="t"/>
          <a:lstStyle/>
          <a:p>
            <a:pPr marL="0" indent="0" algn="l">
              <a:buNone/>
            </a:pPr>
            <a:r>
              <a:rPr lang="en-US" sz="1100" i="1" dirty="0">
                <a:solidFill>
                  <a:srgbClr val="5B6B7F"/>
                </a:solidFill>
                <a:latin typeface="Calibri" pitchFamily="34" charset="0"/>
                <a:ea typeface="Calibri" pitchFamily="34" charset="-122"/>
                <a:cs typeface="Calibri" pitchFamily="34" charset="-120"/>
              </a:rPr>
              <a:t>Connecting you to every major destination worldwide</a:t>
            </a:r>
            <a:endParaRPr lang="en-US" sz="1100" dirty="0"/>
          </a:p>
        </p:txBody>
      </p:sp>
      <p:sp>
        <p:nvSpPr>
          <p:cNvPr id="9" name="Shape 7"/>
          <p:cNvSpPr/>
          <p:nvPr/>
        </p:nvSpPr>
        <p:spPr>
          <a:xfrm>
            <a:off x="457200" y="1691640"/>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0" name="Text 8"/>
          <p:cNvSpPr/>
          <p:nvPr/>
        </p:nvSpPr>
        <p:spPr>
          <a:xfrm>
            <a:off x="502920" y="1783080"/>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11" name="Text 9"/>
          <p:cNvSpPr/>
          <p:nvPr/>
        </p:nvSpPr>
        <p:spPr>
          <a:xfrm>
            <a:off x="502920" y="2039112"/>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Biman Bangladesh</a:t>
            </a:r>
            <a:endParaRPr lang="en-US" sz="950" dirty="0"/>
          </a:p>
        </p:txBody>
      </p:sp>
      <p:sp>
        <p:nvSpPr>
          <p:cNvPr id="12" name="Shape 10"/>
          <p:cNvSpPr/>
          <p:nvPr/>
        </p:nvSpPr>
        <p:spPr>
          <a:xfrm>
            <a:off x="1874520" y="1691640"/>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3" name="Text 11"/>
          <p:cNvSpPr/>
          <p:nvPr/>
        </p:nvSpPr>
        <p:spPr>
          <a:xfrm>
            <a:off x="1920240" y="1783080"/>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14" name="Text 12"/>
          <p:cNvSpPr/>
          <p:nvPr/>
        </p:nvSpPr>
        <p:spPr>
          <a:xfrm>
            <a:off x="1920240" y="2039112"/>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Emirates</a:t>
            </a:r>
            <a:endParaRPr lang="en-US" sz="950" dirty="0"/>
          </a:p>
        </p:txBody>
      </p:sp>
      <p:sp>
        <p:nvSpPr>
          <p:cNvPr id="15" name="Shape 13"/>
          <p:cNvSpPr/>
          <p:nvPr/>
        </p:nvSpPr>
        <p:spPr>
          <a:xfrm>
            <a:off x="3291840" y="1691640"/>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6" name="Text 14"/>
          <p:cNvSpPr/>
          <p:nvPr/>
        </p:nvSpPr>
        <p:spPr>
          <a:xfrm>
            <a:off x="3337560" y="1783080"/>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17" name="Text 15"/>
          <p:cNvSpPr/>
          <p:nvPr/>
        </p:nvSpPr>
        <p:spPr>
          <a:xfrm>
            <a:off x="3337560" y="2039112"/>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Qatar Airways</a:t>
            </a:r>
            <a:endParaRPr lang="en-US" sz="950" dirty="0"/>
          </a:p>
        </p:txBody>
      </p:sp>
      <p:sp>
        <p:nvSpPr>
          <p:cNvPr id="18" name="Shape 16"/>
          <p:cNvSpPr/>
          <p:nvPr/>
        </p:nvSpPr>
        <p:spPr>
          <a:xfrm>
            <a:off x="4709160" y="1691640"/>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9" name="Text 17"/>
          <p:cNvSpPr/>
          <p:nvPr/>
        </p:nvSpPr>
        <p:spPr>
          <a:xfrm>
            <a:off x="4754880" y="1783080"/>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20" name="Text 18"/>
          <p:cNvSpPr/>
          <p:nvPr/>
        </p:nvSpPr>
        <p:spPr>
          <a:xfrm>
            <a:off x="4754880" y="2039112"/>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Singapore Airlines</a:t>
            </a:r>
            <a:endParaRPr lang="en-US" sz="950" dirty="0"/>
          </a:p>
        </p:txBody>
      </p:sp>
      <p:sp>
        <p:nvSpPr>
          <p:cNvPr id="21" name="Shape 19"/>
          <p:cNvSpPr/>
          <p:nvPr/>
        </p:nvSpPr>
        <p:spPr>
          <a:xfrm>
            <a:off x="6126480" y="1691640"/>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22" name="Text 20"/>
          <p:cNvSpPr/>
          <p:nvPr/>
        </p:nvSpPr>
        <p:spPr>
          <a:xfrm>
            <a:off x="6172200" y="1783080"/>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23" name="Text 21"/>
          <p:cNvSpPr/>
          <p:nvPr/>
        </p:nvSpPr>
        <p:spPr>
          <a:xfrm>
            <a:off x="6172200" y="2039112"/>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Cathay Pacific</a:t>
            </a:r>
            <a:endParaRPr lang="en-US" sz="950" dirty="0"/>
          </a:p>
        </p:txBody>
      </p:sp>
      <p:sp>
        <p:nvSpPr>
          <p:cNvPr id="24" name="Shape 22"/>
          <p:cNvSpPr/>
          <p:nvPr/>
        </p:nvSpPr>
        <p:spPr>
          <a:xfrm>
            <a:off x="7543800" y="1691640"/>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25" name="Text 23"/>
          <p:cNvSpPr/>
          <p:nvPr/>
        </p:nvSpPr>
        <p:spPr>
          <a:xfrm>
            <a:off x="7589520" y="1783080"/>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26" name="Text 24"/>
          <p:cNvSpPr/>
          <p:nvPr/>
        </p:nvSpPr>
        <p:spPr>
          <a:xfrm>
            <a:off x="7589520" y="2039112"/>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Turkish Airlines</a:t>
            </a:r>
            <a:endParaRPr lang="en-US" sz="950" dirty="0"/>
          </a:p>
        </p:txBody>
      </p:sp>
      <p:sp>
        <p:nvSpPr>
          <p:cNvPr id="27" name="Shape 25"/>
          <p:cNvSpPr/>
          <p:nvPr/>
        </p:nvSpPr>
        <p:spPr>
          <a:xfrm>
            <a:off x="457200" y="2670048"/>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28" name="Text 26"/>
          <p:cNvSpPr/>
          <p:nvPr/>
        </p:nvSpPr>
        <p:spPr>
          <a:xfrm>
            <a:off x="502920" y="2761488"/>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29" name="Text 27"/>
          <p:cNvSpPr/>
          <p:nvPr/>
        </p:nvSpPr>
        <p:spPr>
          <a:xfrm>
            <a:off x="502920" y="3017520"/>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Thai Airways</a:t>
            </a:r>
            <a:endParaRPr lang="en-US" sz="950" dirty="0"/>
          </a:p>
        </p:txBody>
      </p:sp>
      <p:sp>
        <p:nvSpPr>
          <p:cNvPr id="30" name="Shape 28"/>
          <p:cNvSpPr/>
          <p:nvPr/>
        </p:nvSpPr>
        <p:spPr>
          <a:xfrm>
            <a:off x="1874520" y="2670048"/>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31" name="Text 29"/>
          <p:cNvSpPr/>
          <p:nvPr/>
        </p:nvSpPr>
        <p:spPr>
          <a:xfrm>
            <a:off x="1920240" y="2761488"/>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32" name="Text 30"/>
          <p:cNvSpPr/>
          <p:nvPr/>
        </p:nvSpPr>
        <p:spPr>
          <a:xfrm>
            <a:off x="1920240" y="3017520"/>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Malaysia Airlines</a:t>
            </a:r>
            <a:endParaRPr lang="en-US" sz="950" dirty="0"/>
          </a:p>
        </p:txBody>
      </p:sp>
      <p:sp>
        <p:nvSpPr>
          <p:cNvPr id="33" name="Shape 31"/>
          <p:cNvSpPr/>
          <p:nvPr/>
        </p:nvSpPr>
        <p:spPr>
          <a:xfrm>
            <a:off x="3291840" y="2670048"/>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34" name="Text 32"/>
          <p:cNvSpPr/>
          <p:nvPr/>
        </p:nvSpPr>
        <p:spPr>
          <a:xfrm>
            <a:off x="3337560" y="2761488"/>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35" name="Text 33"/>
          <p:cNvSpPr/>
          <p:nvPr/>
        </p:nvSpPr>
        <p:spPr>
          <a:xfrm>
            <a:off x="3337560" y="3017520"/>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Saudia</a:t>
            </a:r>
            <a:endParaRPr lang="en-US" sz="950" dirty="0"/>
          </a:p>
        </p:txBody>
      </p:sp>
      <p:sp>
        <p:nvSpPr>
          <p:cNvPr id="36" name="Shape 34"/>
          <p:cNvSpPr/>
          <p:nvPr/>
        </p:nvSpPr>
        <p:spPr>
          <a:xfrm>
            <a:off x="4709160" y="2670048"/>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37" name="Text 35"/>
          <p:cNvSpPr/>
          <p:nvPr/>
        </p:nvSpPr>
        <p:spPr>
          <a:xfrm>
            <a:off x="4754880" y="2761488"/>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38" name="Text 36"/>
          <p:cNvSpPr/>
          <p:nvPr/>
        </p:nvSpPr>
        <p:spPr>
          <a:xfrm>
            <a:off x="4754880" y="3017520"/>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Kuwait Airways</a:t>
            </a:r>
            <a:endParaRPr lang="en-US" sz="950" dirty="0"/>
          </a:p>
        </p:txBody>
      </p:sp>
      <p:sp>
        <p:nvSpPr>
          <p:cNvPr id="39" name="Shape 37"/>
          <p:cNvSpPr/>
          <p:nvPr/>
        </p:nvSpPr>
        <p:spPr>
          <a:xfrm>
            <a:off x="6126480" y="2670048"/>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40" name="Text 38"/>
          <p:cNvSpPr/>
          <p:nvPr/>
        </p:nvSpPr>
        <p:spPr>
          <a:xfrm>
            <a:off x="6172200" y="2761488"/>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41" name="Text 39"/>
          <p:cNvSpPr/>
          <p:nvPr/>
        </p:nvSpPr>
        <p:spPr>
          <a:xfrm>
            <a:off x="6172200" y="3017520"/>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US-Bangla</a:t>
            </a:r>
            <a:endParaRPr lang="en-US" sz="950" dirty="0"/>
          </a:p>
        </p:txBody>
      </p:sp>
      <p:sp>
        <p:nvSpPr>
          <p:cNvPr id="42" name="Shape 40"/>
          <p:cNvSpPr/>
          <p:nvPr/>
        </p:nvSpPr>
        <p:spPr>
          <a:xfrm>
            <a:off x="7543800" y="2670048"/>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43" name="Text 41"/>
          <p:cNvSpPr/>
          <p:nvPr/>
        </p:nvSpPr>
        <p:spPr>
          <a:xfrm>
            <a:off x="7589520" y="2761488"/>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44" name="Text 42"/>
          <p:cNvSpPr/>
          <p:nvPr/>
        </p:nvSpPr>
        <p:spPr>
          <a:xfrm>
            <a:off x="7589520" y="3017520"/>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NOVOAIR</a:t>
            </a:r>
            <a:endParaRPr lang="en-US" sz="950" dirty="0"/>
          </a:p>
        </p:txBody>
      </p:sp>
      <p:sp>
        <p:nvSpPr>
          <p:cNvPr id="45" name="Shape 43"/>
          <p:cNvSpPr/>
          <p:nvPr/>
        </p:nvSpPr>
        <p:spPr>
          <a:xfrm>
            <a:off x="457200" y="3648456"/>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46" name="Text 44"/>
          <p:cNvSpPr/>
          <p:nvPr/>
        </p:nvSpPr>
        <p:spPr>
          <a:xfrm>
            <a:off x="502920" y="3739896"/>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47" name="Text 45"/>
          <p:cNvSpPr/>
          <p:nvPr/>
        </p:nvSpPr>
        <p:spPr>
          <a:xfrm>
            <a:off x="502920" y="3995928"/>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United Airlines</a:t>
            </a:r>
            <a:endParaRPr lang="en-US" sz="950" dirty="0"/>
          </a:p>
        </p:txBody>
      </p:sp>
      <p:sp>
        <p:nvSpPr>
          <p:cNvPr id="48" name="Shape 46"/>
          <p:cNvSpPr/>
          <p:nvPr/>
        </p:nvSpPr>
        <p:spPr>
          <a:xfrm>
            <a:off x="1874520" y="3648456"/>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49" name="Text 47"/>
          <p:cNvSpPr/>
          <p:nvPr/>
        </p:nvSpPr>
        <p:spPr>
          <a:xfrm>
            <a:off x="1920240" y="3739896"/>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50" name="Text 48"/>
          <p:cNvSpPr/>
          <p:nvPr/>
        </p:nvSpPr>
        <p:spPr>
          <a:xfrm>
            <a:off x="1920240" y="3995928"/>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Vistara</a:t>
            </a:r>
            <a:endParaRPr lang="en-US" sz="950" dirty="0"/>
          </a:p>
        </p:txBody>
      </p:sp>
      <p:sp>
        <p:nvSpPr>
          <p:cNvPr id="51" name="Shape 49"/>
          <p:cNvSpPr/>
          <p:nvPr/>
        </p:nvSpPr>
        <p:spPr>
          <a:xfrm>
            <a:off x="3291840" y="3648456"/>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52" name="Text 50"/>
          <p:cNvSpPr/>
          <p:nvPr/>
        </p:nvSpPr>
        <p:spPr>
          <a:xfrm>
            <a:off x="3337560" y="3739896"/>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53" name="Text 51"/>
          <p:cNvSpPr/>
          <p:nvPr/>
        </p:nvSpPr>
        <p:spPr>
          <a:xfrm>
            <a:off x="3337560" y="3995928"/>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AirAsia</a:t>
            </a:r>
            <a:endParaRPr lang="en-US" sz="950" dirty="0"/>
          </a:p>
        </p:txBody>
      </p:sp>
      <p:sp>
        <p:nvSpPr>
          <p:cNvPr id="54" name="Shape 52"/>
          <p:cNvSpPr/>
          <p:nvPr/>
        </p:nvSpPr>
        <p:spPr>
          <a:xfrm>
            <a:off x="4709160" y="3648456"/>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55" name="Text 53"/>
          <p:cNvSpPr/>
          <p:nvPr/>
        </p:nvSpPr>
        <p:spPr>
          <a:xfrm>
            <a:off x="4754880" y="3739896"/>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56" name="Text 54"/>
          <p:cNvSpPr/>
          <p:nvPr/>
        </p:nvSpPr>
        <p:spPr>
          <a:xfrm>
            <a:off x="4754880" y="3995928"/>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Malindo Air</a:t>
            </a:r>
            <a:endParaRPr lang="en-US" sz="950" dirty="0"/>
          </a:p>
        </p:txBody>
      </p:sp>
      <p:sp>
        <p:nvSpPr>
          <p:cNvPr id="57" name="Shape 55"/>
          <p:cNvSpPr/>
          <p:nvPr/>
        </p:nvSpPr>
        <p:spPr>
          <a:xfrm>
            <a:off x="6126480" y="3648456"/>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58" name="Text 56"/>
          <p:cNvSpPr/>
          <p:nvPr/>
        </p:nvSpPr>
        <p:spPr>
          <a:xfrm>
            <a:off x="6172200" y="3739896"/>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59" name="Text 57"/>
          <p:cNvSpPr/>
          <p:nvPr/>
        </p:nvSpPr>
        <p:spPr>
          <a:xfrm>
            <a:off x="6172200" y="3995928"/>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China Eastern</a:t>
            </a:r>
            <a:endParaRPr lang="en-US" sz="950" dirty="0"/>
          </a:p>
        </p:txBody>
      </p:sp>
      <p:sp>
        <p:nvSpPr>
          <p:cNvPr id="60" name="Shape 58"/>
          <p:cNvSpPr/>
          <p:nvPr/>
        </p:nvSpPr>
        <p:spPr>
          <a:xfrm>
            <a:off x="7543800" y="3648456"/>
            <a:ext cx="1353312" cy="868680"/>
          </a:xfrm>
          <a:prstGeom prst="roundRect">
            <a:avLst>
              <a:gd name="adj" fmla="val 6316"/>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61" name="Text 59"/>
          <p:cNvSpPr/>
          <p:nvPr/>
        </p:nvSpPr>
        <p:spPr>
          <a:xfrm>
            <a:off x="7589520" y="3739896"/>
            <a:ext cx="274320" cy="274320"/>
          </a:xfrm>
          <a:prstGeom prst="rect">
            <a:avLst/>
          </a:prstGeom>
          <a:noFill/>
          <a:ln/>
        </p:spPr>
        <p:txBody>
          <a:bodyPr wrap="square" rtlCol="0" anchor="ctr"/>
          <a:lstStyle/>
          <a:p>
            <a:pPr marL="0" indent="0" algn="ctr">
              <a:buNone/>
            </a:pPr>
            <a:r>
              <a:rPr lang="en-US" sz="1100" dirty="0">
                <a:solidFill>
                  <a:srgbClr val="1A8FB5"/>
                </a:solidFill>
                <a:latin typeface="DejaVu Sans" pitchFamily="34" charset="0"/>
                <a:ea typeface="DejaVu Sans" pitchFamily="34" charset="-122"/>
                <a:cs typeface="DejaVu Sans" pitchFamily="34" charset="-120"/>
              </a:rPr>
              <a:t>✈</a:t>
            </a:r>
            <a:endParaRPr lang="en-US" sz="1100" dirty="0"/>
          </a:p>
        </p:txBody>
      </p:sp>
      <p:sp>
        <p:nvSpPr>
          <p:cNvPr id="62" name="Text 60"/>
          <p:cNvSpPr/>
          <p:nvPr/>
        </p:nvSpPr>
        <p:spPr>
          <a:xfrm>
            <a:off x="7589520" y="3995928"/>
            <a:ext cx="1261872" cy="457200"/>
          </a:xfrm>
          <a:prstGeom prst="rect">
            <a:avLst/>
          </a:prstGeom>
          <a:noFill/>
          <a:ln/>
        </p:spPr>
        <p:txBody>
          <a:bodyPr wrap="square" rtlCol="0" anchor="ctr">
            <a:normAutofit/>
          </a:bodyPr>
          <a:lstStyle/>
          <a:p>
            <a:pPr marL="0" indent="0" algn="ctr">
              <a:buNone/>
            </a:pPr>
            <a:r>
              <a:rPr lang="en-US" sz="950" b="1" dirty="0">
                <a:solidFill>
                  <a:srgbClr val="0E5C8A"/>
                </a:solidFill>
                <a:latin typeface="Calibri" pitchFamily="34" charset="0"/>
                <a:ea typeface="Calibri" pitchFamily="34" charset="-122"/>
                <a:cs typeface="Calibri" pitchFamily="34" charset="-120"/>
              </a:rPr>
              <a:t>China Southern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540"/>
          </a:solidFill>
          <a:ln/>
        </p:spPr>
      </p:sp>
      <p:sp>
        <p:nvSpPr>
          <p:cNvPr id="3" name="Shape 1"/>
          <p:cNvSpPr/>
          <p:nvPr/>
        </p:nvSpPr>
        <p:spPr>
          <a:xfrm>
            <a:off x="0" y="1005840"/>
            <a:ext cx="9144000" cy="36576"/>
          </a:xfrm>
          <a:prstGeom prst="rect">
            <a:avLst/>
          </a:prstGeom>
          <a:solidFill>
            <a:srgbClr val="D4A537"/>
          </a:solidFill>
          <a:ln/>
        </p:spPr>
      </p:sp>
      <p:sp>
        <p:nvSpPr>
          <p:cNvPr id="4" name="Text 2"/>
          <p:cNvSpPr/>
          <p:nvPr/>
        </p:nvSpPr>
        <p:spPr>
          <a:xfrm>
            <a:off x="548640" y="274320"/>
            <a:ext cx="7315200" cy="411480"/>
          </a:xfrm>
          <a:prstGeom prst="rect">
            <a:avLst/>
          </a:prstGeom>
          <a:noFill/>
          <a:ln/>
        </p:spPr>
        <p:txBody>
          <a:bodyPr wrap="square" rtlCol="0" anchor="ctr">
            <a:normAutofit fontScale="85000" lnSpcReduction="20000"/>
          </a:bodyPr>
          <a:lstStyle/>
          <a:p>
            <a:pPr marL="0" indent="0">
              <a:buNone/>
            </a:pPr>
            <a:r>
              <a:rPr lang="en-US" sz="2800" b="1" kern="0" spc="400" dirty="0">
                <a:solidFill>
                  <a:srgbClr val="FFFFFF"/>
                </a:solidFill>
                <a:latin typeface="Cambria" pitchFamily="34" charset="0"/>
                <a:ea typeface="Cambria" pitchFamily="34" charset="-122"/>
                <a:cs typeface="Cambria" pitchFamily="34" charset="-120"/>
              </a:rPr>
              <a:t>OUR VALUED CLIENTS</a:t>
            </a:r>
            <a:endParaRPr lang="en-US" sz="2800" dirty="0"/>
          </a:p>
        </p:txBody>
      </p:sp>
      <p:sp>
        <p:nvSpPr>
          <p:cNvPr id="5" name="Text 3"/>
          <p:cNvSpPr/>
          <p:nvPr/>
        </p:nvSpPr>
        <p:spPr>
          <a:xfrm>
            <a:off x="548640" y="749808"/>
            <a:ext cx="73152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TRUSTED BY LEADING CORPORATES</a:t>
            </a:r>
            <a:endParaRPr lang="en-US" sz="1000" dirty="0"/>
          </a:p>
        </p:txBody>
      </p:sp>
      <p:sp>
        <p:nvSpPr>
          <p:cNvPr id="6" name="Text 4"/>
          <p:cNvSpPr/>
          <p:nvPr/>
        </p:nvSpPr>
        <p:spPr>
          <a:xfrm>
            <a:off x="548640" y="1188720"/>
            <a:ext cx="8046720" cy="640080"/>
          </a:xfrm>
          <a:prstGeom prst="rect">
            <a:avLst/>
          </a:prstGeom>
          <a:noFill/>
          <a:ln/>
        </p:spPr>
        <p:txBody>
          <a:bodyPr wrap="square" rtlCol="0" anchor="t">
            <a:normAutofit/>
          </a:bodyPr>
          <a:lstStyle/>
          <a:p>
            <a:pPr marL="0" indent="0" algn="l">
              <a:buNone/>
            </a:pPr>
            <a:r>
              <a:rPr lang="en-US" sz="1100" dirty="0">
                <a:solidFill>
                  <a:srgbClr val="1A2533"/>
                </a:solidFill>
                <a:latin typeface="Calibri" pitchFamily="34" charset="0"/>
                <a:ea typeface="Calibri" pitchFamily="34" charset="-122"/>
                <a:cs typeface="Calibri" pitchFamily="34" charset="-120"/>
              </a:rPr>
              <a:t>Our corporate clients trust Travel Treasure to manage their most important travel needs — from executive flights and group tours to visa processing and foreign currency endorsement. These long-standing relationships are a testament to our reliability, transparency, and consistent service quality.</a:t>
            </a:r>
            <a:endParaRPr lang="en-US" sz="1100" dirty="0"/>
          </a:p>
        </p:txBody>
      </p:sp>
      <p:sp>
        <p:nvSpPr>
          <p:cNvPr id="7" name="Shape 5"/>
          <p:cNvSpPr/>
          <p:nvPr/>
        </p:nvSpPr>
        <p:spPr>
          <a:xfrm>
            <a:off x="461772" y="1965960"/>
            <a:ext cx="1965960" cy="2011680"/>
          </a:xfrm>
          <a:prstGeom prst="roundRect">
            <a:avLst>
              <a:gd name="adj" fmla="val 4651"/>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8" name="Shape 6"/>
          <p:cNvSpPr/>
          <p:nvPr/>
        </p:nvSpPr>
        <p:spPr>
          <a:xfrm>
            <a:off x="461772" y="1965960"/>
            <a:ext cx="1965960" cy="822960"/>
          </a:xfrm>
          <a:prstGeom prst="roundRect">
            <a:avLst>
              <a:gd name="adj" fmla="val 11111"/>
            </a:avLst>
          </a:prstGeom>
          <a:solidFill>
            <a:srgbClr val="EAF1F7"/>
          </a:solidFill>
          <a:ln/>
        </p:spPr>
      </p:sp>
      <p:sp>
        <p:nvSpPr>
          <p:cNvPr id="9" name="Shape 7"/>
          <p:cNvSpPr/>
          <p:nvPr/>
        </p:nvSpPr>
        <p:spPr>
          <a:xfrm>
            <a:off x="461772" y="2423160"/>
            <a:ext cx="1965960" cy="365760"/>
          </a:xfrm>
          <a:prstGeom prst="rect">
            <a:avLst/>
          </a:prstGeom>
          <a:solidFill>
            <a:srgbClr val="FFFFFF"/>
          </a:solidFill>
          <a:ln/>
        </p:spPr>
      </p:sp>
      <p:sp>
        <p:nvSpPr>
          <p:cNvPr id="11" name="Text 9"/>
          <p:cNvSpPr/>
          <p:nvPr/>
        </p:nvSpPr>
        <p:spPr>
          <a:xfrm>
            <a:off x="1078992" y="2103120"/>
            <a:ext cx="731520" cy="731520"/>
          </a:xfrm>
          <a:prstGeom prst="rect">
            <a:avLst/>
          </a:prstGeom>
          <a:noFill/>
          <a:ln/>
        </p:spPr>
        <p:txBody>
          <a:bodyPr wrap="square" rtlCol="0" anchor="ctr">
            <a:normAutofit/>
          </a:bodyPr>
          <a:lstStyle/>
          <a:p>
            <a:pPr marL="0" indent="0" algn="ctr">
              <a:buNone/>
            </a:pPr>
            <a:endParaRPr lang="en-US" sz="2400" dirty="0"/>
          </a:p>
        </p:txBody>
      </p:sp>
      <p:sp>
        <p:nvSpPr>
          <p:cNvPr id="12" name="Text 10"/>
          <p:cNvSpPr/>
          <p:nvPr/>
        </p:nvSpPr>
        <p:spPr>
          <a:xfrm>
            <a:off x="553212" y="2971800"/>
            <a:ext cx="1783080" cy="365760"/>
          </a:xfrm>
          <a:prstGeom prst="rect">
            <a:avLst/>
          </a:prstGeom>
          <a:noFill/>
          <a:ln/>
        </p:spPr>
        <p:txBody>
          <a:bodyPr wrap="square" rtlCol="0" anchor="ctr"/>
          <a:lstStyle/>
          <a:p>
            <a:pPr marL="0" indent="0" algn="ctr">
              <a:buNone/>
            </a:pPr>
            <a:r>
              <a:rPr lang="en-US" sz="1600" b="1" dirty="0">
                <a:solidFill>
                  <a:srgbClr val="0E5C8A"/>
                </a:solidFill>
                <a:latin typeface="Cambria" pitchFamily="34" charset="0"/>
                <a:ea typeface="Cambria" pitchFamily="34" charset="-122"/>
                <a:cs typeface="Cambria" pitchFamily="34" charset="-120"/>
              </a:rPr>
              <a:t>Bank Asia</a:t>
            </a:r>
            <a:endParaRPr lang="en-US" sz="1600" dirty="0"/>
          </a:p>
        </p:txBody>
      </p:sp>
      <p:sp>
        <p:nvSpPr>
          <p:cNvPr id="13" name="Text 11"/>
          <p:cNvSpPr/>
          <p:nvPr/>
        </p:nvSpPr>
        <p:spPr>
          <a:xfrm>
            <a:off x="598932" y="3383280"/>
            <a:ext cx="1691640" cy="457200"/>
          </a:xfrm>
          <a:prstGeom prst="rect">
            <a:avLst/>
          </a:prstGeom>
          <a:noFill/>
          <a:ln/>
        </p:spPr>
        <p:txBody>
          <a:bodyPr wrap="square" rtlCol="0" anchor="t">
            <a:normAutofit/>
          </a:bodyPr>
          <a:lstStyle/>
          <a:p>
            <a:pPr marL="0" indent="0" algn="ctr">
              <a:buNone/>
            </a:pPr>
            <a:r>
              <a:rPr lang="en-US" sz="1000" i="1" dirty="0">
                <a:solidFill>
                  <a:srgbClr val="5B6B7F"/>
                </a:solidFill>
                <a:latin typeface="Calibri" pitchFamily="34" charset="0"/>
                <a:ea typeface="Calibri" pitchFamily="34" charset="-122"/>
                <a:cs typeface="Calibri" pitchFamily="34" charset="-120"/>
              </a:rPr>
              <a:t>Corporate Travel &amp; Visa Services</a:t>
            </a:r>
            <a:endParaRPr lang="en-US" sz="1000" dirty="0"/>
          </a:p>
        </p:txBody>
      </p:sp>
      <p:sp>
        <p:nvSpPr>
          <p:cNvPr id="14" name="Shape 12"/>
          <p:cNvSpPr/>
          <p:nvPr/>
        </p:nvSpPr>
        <p:spPr>
          <a:xfrm>
            <a:off x="2546604" y="1965960"/>
            <a:ext cx="1965960" cy="2011680"/>
          </a:xfrm>
          <a:prstGeom prst="roundRect">
            <a:avLst>
              <a:gd name="adj" fmla="val 4651"/>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15" name="Shape 13"/>
          <p:cNvSpPr/>
          <p:nvPr/>
        </p:nvSpPr>
        <p:spPr>
          <a:xfrm>
            <a:off x="2546604" y="1965960"/>
            <a:ext cx="1965960" cy="822960"/>
          </a:xfrm>
          <a:prstGeom prst="roundRect">
            <a:avLst>
              <a:gd name="adj" fmla="val 11111"/>
            </a:avLst>
          </a:prstGeom>
          <a:solidFill>
            <a:srgbClr val="EAF1F7"/>
          </a:solidFill>
          <a:ln/>
        </p:spPr>
      </p:sp>
      <p:sp>
        <p:nvSpPr>
          <p:cNvPr id="16" name="Shape 14"/>
          <p:cNvSpPr/>
          <p:nvPr/>
        </p:nvSpPr>
        <p:spPr>
          <a:xfrm>
            <a:off x="2546604" y="2423160"/>
            <a:ext cx="1965960" cy="365760"/>
          </a:xfrm>
          <a:prstGeom prst="rect">
            <a:avLst/>
          </a:prstGeom>
          <a:solidFill>
            <a:srgbClr val="FFFFFF"/>
          </a:solidFill>
          <a:ln/>
        </p:spPr>
      </p:sp>
      <p:sp>
        <p:nvSpPr>
          <p:cNvPr id="18" name="Text 16"/>
          <p:cNvSpPr/>
          <p:nvPr/>
        </p:nvSpPr>
        <p:spPr>
          <a:xfrm>
            <a:off x="3163824" y="2103120"/>
            <a:ext cx="731520" cy="731520"/>
          </a:xfrm>
          <a:prstGeom prst="rect">
            <a:avLst/>
          </a:prstGeom>
          <a:noFill/>
          <a:ln/>
        </p:spPr>
        <p:txBody>
          <a:bodyPr wrap="square" rtlCol="0" anchor="ctr">
            <a:normAutofit/>
          </a:bodyPr>
          <a:lstStyle/>
          <a:p>
            <a:pPr marL="0" indent="0" algn="ctr">
              <a:buNone/>
            </a:pPr>
            <a:endParaRPr lang="en-US" sz="2400" dirty="0"/>
          </a:p>
        </p:txBody>
      </p:sp>
      <p:sp>
        <p:nvSpPr>
          <p:cNvPr id="19" name="Text 17"/>
          <p:cNvSpPr/>
          <p:nvPr/>
        </p:nvSpPr>
        <p:spPr>
          <a:xfrm>
            <a:off x="2638044" y="2971800"/>
            <a:ext cx="1783080" cy="365760"/>
          </a:xfrm>
          <a:prstGeom prst="rect">
            <a:avLst/>
          </a:prstGeom>
          <a:noFill/>
          <a:ln/>
        </p:spPr>
        <p:txBody>
          <a:bodyPr wrap="square" rtlCol="0" anchor="ctr"/>
          <a:lstStyle/>
          <a:p>
            <a:pPr marL="0" indent="0" algn="ctr">
              <a:buNone/>
            </a:pPr>
            <a:r>
              <a:rPr lang="en-US" sz="1600" b="1" dirty="0">
                <a:solidFill>
                  <a:srgbClr val="0E5C8A"/>
                </a:solidFill>
                <a:latin typeface="Cambria" pitchFamily="34" charset="0"/>
                <a:ea typeface="Cambria" pitchFamily="34" charset="-122"/>
                <a:cs typeface="Cambria" pitchFamily="34" charset="-120"/>
              </a:rPr>
              <a:t>BRAC Bank</a:t>
            </a:r>
            <a:endParaRPr lang="en-US" sz="1600" dirty="0"/>
          </a:p>
        </p:txBody>
      </p:sp>
      <p:sp>
        <p:nvSpPr>
          <p:cNvPr id="20" name="Text 18"/>
          <p:cNvSpPr/>
          <p:nvPr/>
        </p:nvSpPr>
        <p:spPr>
          <a:xfrm>
            <a:off x="2683764" y="3383280"/>
            <a:ext cx="1691640" cy="457200"/>
          </a:xfrm>
          <a:prstGeom prst="rect">
            <a:avLst/>
          </a:prstGeom>
          <a:noFill/>
          <a:ln/>
        </p:spPr>
        <p:txBody>
          <a:bodyPr wrap="square" rtlCol="0" anchor="t">
            <a:normAutofit/>
          </a:bodyPr>
          <a:lstStyle/>
          <a:p>
            <a:pPr marL="0" indent="0" algn="ctr">
              <a:buNone/>
            </a:pPr>
            <a:r>
              <a:rPr lang="en-US" sz="1000" i="1" dirty="0">
                <a:solidFill>
                  <a:srgbClr val="5B6B7F"/>
                </a:solidFill>
                <a:latin typeface="Calibri" pitchFamily="34" charset="0"/>
                <a:ea typeface="Calibri" pitchFamily="34" charset="-122"/>
                <a:cs typeface="Calibri" pitchFamily="34" charset="-120"/>
              </a:rPr>
              <a:t>Executive Flights &amp; MICE</a:t>
            </a:r>
            <a:endParaRPr lang="en-US" sz="1000" dirty="0"/>
          </a:p>
        </p:txBody>
      </p:sp>
      <p:sp>
        <p:nvSpPr>
          <p:cNvPr id="21" name="Shape 19"/>
          <p:cNvSpPr/>
          <p:nvPr/>
        </p:nvSpPr>
        <p:spPr>
          <a:xfrm>
            <a:off x="4631436" y="1965960"/>
            <a:ext cx="1965960" cy="2011680"/>
          </a:xfrm>
          <a:prstGeom prst="roundRect">
            <a:avLst>
              <a:gd name="adj" fmla="val 4651"/>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22" name="Shape 20"/>
          <p:cNvSpPr/>
          <p:nvPr/>
        </p:nvSpPr>
        <p:spPr>
          <a:xfrm>
            <a:off x="4631436" y="1965960"/>
            <a:ext cx="1965960" cy="822960"/>
          </a:xfrm>
          <a:prstGeom prst="roundRect">
            <a:avLst>
              <a:gd name="adj" fmla="val 11111"/>
            </a:avLst>
          </a:prstGeom>
          <a:solidFill>
            <a:srgbClr val="EAF1F7"/>
          </a:solidFill>
          <a:ln/>
        </p:spPr>
      </p:sp>
      <p:sp>
        <p:nvSpPr>
          <p:cNvPr id="23" name="Shape 21"/>
          <p:cNvSpPr/>
          <p:nvPr/>
        </p:nvSpPr>
        <p:spPr>
          <a:xfrm>
            <a:off x="4631436" y="2423160"/>
            <a:ext cx="1965960" cy="365760"/>
          </a:xfrm>
          <a:prstGeom prst="rect">
            <a:avLst/>
          </a:prstGeom>
          <a:solidFill>
            <a:srgbClr val="FFFFFF"/>
          </a:solidFill>
          <a:ln/>
        </p:spPr>
      </p:sp>
      <p:sp>
        <p:nvSpPr>
          <p:cNvPr id="24" name="Shape 22"/>
          <p:cNvSpPr/>
          <p:nvPr/>
        </p:nvSpPr>
        <p:spPr>
          <a:xfrm>
            <a:off x="5248656" y="2103120"/>
            <a:ext cx="731520" cy="731520"/>
          </a:xfrm>
          <a:prstGeom prst="ellipse">
            <a:avLst/>
          </a:prstGeom>
          <a:solidFill>
            <a:srgbClr val="0E5C8A"/>
          </a:solidFill>
          <a:ln/>
        </p:spPr>
      </p:sp>
      <p:sp>
        <p:nvSpPr>
          <p:cNvPr id="25" name="Text 23"/>
          <p:cNvSpPr/>
          <p:nvPr/>
        </p:nvSpPr>
        <p:spPr>
          <a:xfrm>
            <a:off x="5248656" y="2103120"/>
            <a:ext cx="731520" cy="731520"/>
          </a:xfrm>
          <a:prstGeom prst="rect">
            <a:avLst/>
          </a:prstGeom>
          <a:noFill/>
          <a:ln/>
        </p:spPr>
        <p:txBody>
          <a:bodyPr wrap="square" rtlCol="0" anchor="ctr">
            <a:normAutofit/>
          </a:bodyPr>
          <a:lstStyle/>
          <a:p>
            <a:pPr marL="0" indent="0" algn="ctr">
              <a:buNone/>
            </a:pPr>
            <a:endParaRPr lang="en-US" sz="2400" dirty="0"/>
          </a:p>
        </p:txBody>
      </p:sp>
      <p:sp>
        <p:nvSpPr>
          <p:cNvPr id="26" name="Text 24"/>
          <p:cNvSpPr/>
          <p:nvPr/>
        </p:nvSpPr>
        <p:spPr>
          <a:xfrm>
            <a:off x="4722876" y="2971800"/>
            <a:ext cx="1783080" cy="365760"/>
          </a:xfrm>
          <a:prstGeom prst="rect">
            <a:avLst/>
          </a:prstGeom>
          <a:noFill/>
          <a:ln/>
        </p:spPr>
        <p:txBody>
          <a:bodyPr wrap="square" rtlCol="0" anchor="ctr"/>
          <a:lstStyle/>
          <a:p>
            <a:pPr marL="0" indent="0" algn="ctr">
              <a:buNone/>
            </a:pPr>
            <a:r>
              <a:rPr lang="en-US" sz="1600" b="1" dirty="0">
                <a:solidFill>
                  <a:srgbClr val="0E5C8A"/>
                </a:solidFill>
                <a:latin typeface="Cambria" pitchFamily="34" charset="0"/>
                <a:ea typeface="Cambria" pitchFamily="34" charset="-122"/>
                <a:cs typeface="Cambria" pitchFamily="34" charset="-120"/>
              </a:rPr>
              <a:t>Chinese</a:t>
            </a:r>
            <a:endParaRPr lang="en-US" sz="1600" dirty="0"/>
          </a:p>
        </p:txBody>
      </p:sp>
      <p:sp>
        <p:nvSpPr>
          <p:cNvPr id="27" name="Text 25"/>
          <p:cNvSpPr/>
          <p:nvPr/>
        </p:nvSpPr>
        <p:spPr>
          <a:xfrm>
            <a:off x="4768596" y="3383280"/>
            <a:ext cx="1691640" cy="457200"/>
          </a:xfrm>
          <a:prstGeom prst="rect">
            <a:avLst/>
          </a:prstGeom>
          <a:noFill/>
          <a:ln/>
        </p:spPr>
        <p:txBody>
          <a:bodyPr wrap="square" rtlCol="0" anchor="t">
            <a:normAutofit/>
          </a:bodyPr>
          <a:lstStyle/>
          <a:p>
            <a:pPr marL="0" indent="0" algn="ctr">
              <a:buNone/>
            </a:pPr>
            <a:r>
              <a:rPr lang="en-US" sz="1000" i="1" dirty="0">
                <a:solidFill>
                  <a:srgbClr val="5B6B7F"/>
                </a:solidFill>
                <a:latin typeface="Calibri" pitchFamily="34" charset="0"/>
                <a:ea typeface="Calibri" pitchFamily="34" charset="-122"/>
                <a:cs typeface="Calibri" pitchFamily="34" charset="-120"/>
              </a:rPr>
              <a:t>Cross-border Travel Solutions</a:t>
            </a:r>
            <a:endParaRPr lang="en-US" sz="1000" dirty="0"/>
          </a:p>
        </p:txBody>
      </p:sp>
      <p:sp>
        <p:nvSpPr>
          <p:cNvPr id="28" name="Shape 26"/>
          <p:cNvSpPr/>
          <p:nvPr/>
        </p:nvSpPr>
        <p:spPr>
          <a:xfrm>
            <a:off x="6716268" y="1965960"/>
            <a:ext cx="1965960" cy="2011680"/>
          </a:xfrm>
          <a:prstGeom prst="roundRect">
            <a:avLst>
              <a:gd name="adj" fmla="val 4651"/>
            </a:avLst>
          </a:prstGeom>
          <a:solidFill>
            <a:srgbClr val="FFFFFF"/>
          </a:solidFill>
          <a:ln w="9525">
            <a:solidFill>
              <a:srgbClr val="E2E8F0"/>
            </a:solidFill>
            <a:prstDash val="solid"/>
          </a:ln>
          <a:effectLst>
            <a:outerShdw blurRad="101600" dist="25400" dir="5400000" algn="bl" rotWithShape="0">
              <a:srgbClr val="1A2533">
                <a:alpha val="12000"/>
              </a:srgbClr>
            </a:outerShdw>
          </a:effectLst>
        </p:spPr>
      </p:sp>
      <p:sp>
        <p:nvSpPr>
          <p:cNvPr id="29" name="Shape 27"/>
          <p:cNvSpPr/>
          <p:nvPr/>
        </p:nvSpPr>
        <p:spPr>
          <a:xfrm>
            <a:off x="6716268" y="1965960"/>
            <a:ext cx="1965960" cy="822960"/>
          </a:xfrm>
          <a:prstGeom prst="roundRect">
            <a:avLst>
              <a:gd name="adj" fmla="val 11111"/>
            </a:avLst>
          </a:prstGeom>
          <a:solidFill>
            <a:srgbClr val="EAF1F7"/>
          </a:solidFill>
          <a:ln/>
        </p:spPr>
      </p:sp>
      <p:sp>
        <p:nvSpPr>
          <p:cNvPr id="30" name="Shape 28"/>
          <p:cNvSpPr/>
          <p:nvPr/>
        </p:nvSpPr>
        <p:spPr>
          <a:xfrm>
            <a:off x="6716268" y="2423160"/>
            <a:ext cx="1965960" cy="365760"/>
          </a:xfrm>
          <a:prstGeom prst="rect">
            <a:avLst/>
          </a:prstGeom>
          <a:solidFill>
            <a:srgbClr val="FFFFFF"/>
          </a:solidFill>
          <a:ln/>
        </p:spPr>
      </p:sp>
      <p:sp>
        <p:nvSpPr>
          <p:cNvPr id="31" name="Shape 29"/>
          <p:cNvSpPr/>
          <p:nvPr/>
        </p:nvSpPr>
        <p:spPr>
          <a:xfrm>
            <a:off x="7333488" y="2103120"/>
            <a:ext cx="731520" cy="731520"/>
          </a:xfrm>
          <a:prstGeom prst="ellipse">
            <a:avLst/>
          </a:prstGeom>
          <a:solidFill>
            <a:srgbClr val="0E5C8A"/>
          </a:solidFill>
          <a:ln/>
        </p:spPr>
      </p:sp>
      <p:sp>
        <p:nvSpPr>
          <p:cNvPr id="32" name="Text 30"/>
          <p:cNvSpPr/>
          <p:nvPr/>
        </p:nvSpPr>
        <p:spPr>
          <a:xfrm>
            <a:off x="7333488" y="2103120"/>
            <a:ext cx="731520" cy="731520"/>
          </a:xfrm>
          <a:prstGeom prst="rect">
            <a:avLst/>
          </a:prstGeom>
          <a:noFill/>
          <a:ln/>
        </p:spPr>
        <p:txBody>
          <a:bodyPr wrap="square" rtlCol="0" anchor="ctr">
            <a:normAutofit/>
          </a:bodyPr>
          <a:lstStyle/>
          <a:p>
            <a:pPr marL="0" indent="0" algn="ctr">
              <a:buNone/>
            </a:pPr>
            <a:endParaRPr lang="en-US" sz="2400" dirty="0"/>
          </a:p>
        </p:txBody>
      </p:sp>
      <p:sp>
        <p:nvSpPr>
          <p:cNvPr id="33" name="Text 31"/>
          <p:cNvSpPr/>
          <p:nvPr/>
        </p:nvSpPr>
        <p:spPr>
          <a:xfrm>
            <a:off x="6807708" y="2971800"/>
            <a:ext cx="1783080" cy="365760"/>
          </a:xfrm>
          <a:prstGeom prst="rect">
            <a:avLst/>
          </a:prstGeom>
          <a:noFill/>
          <a:ln/>
        </p:spPr>
        <p:txBody>
          <a:bodyPr wrap="square" rtlCol="0" anchor="ctr"/>
          <a:lstStyle/>
          <a:p>
            <a:pPr marL="0" indent="0" algn="ctr">
              <a:buNone/>
            </a:pPr>
            <a:r>
              <a:rPr lang="en-US" sz="1600" b="1" dirty="0">
                <a:solidFill>
                  <a:srgbClr val="0E5C8A"/>
                </a:solidFill>
                <a:latin typeface="Cambria" pitchFamily="34" charset="0"/>
                <a:ea typeface="Cambria" pitchFamily="34" charset="-122"/>
                <a:cs typeface="Cambria" pitchFamily="34" charset="-120"/>
              </a:rPr>
              <a:t>Dekko Group</a:t>
            </a:r>
            <a:endParaRPr lang="en-US" sz="1600" dirty="0"/>
          </a:p>
        </p:txBody>
      </p:sp>
      <p:sp>
        <p:nvSpPr>
          <p:cNvPr id="34" name="Text 32"/>
          <p:cNvSpPr/>
          <p:nvPr/>
        </p:nvSpPr>
        <p:spPr>
          <a:xfrm>
            <a:off x="6853428" y="3383280"/>
            <a:ext cx="1691640" cy="457200"/>
          </a:xfrm>
          <a:prstGeom prst="rect">
            <a:avLst/>
          </a:prstGeom>
          <a:noFill/>
          <a:ln/>
        </p:spPr>
        <p:txBody>
          <a:bodyPr wrap="square" rtlCol="0" anchor="t">
            <a:normAutofit/>
          </a:bodyPr>
          <a:lstStyle/>
          <a:p>
            <a:pPr marL="0" indent="0" algn="ctr">
              <a:buNone/>
            </a:pPr>
            <a:r>
              <a:rPr lang="en-US" sz="1000" i="1" dirty="0">
                <a:solidFill>
                  <a:srgbClr val="5B6B7F"/>
                </a:solidFill>
                <a:latin typeface="Calibri" pitchFamily="34" charset="0"/>
                <a:ea typeface="Calibri" pitchFamily="34" charset="-122"/>
                <a:cs typeface="Calibri" pitchFamily="34" charset="-120"/>
              </a:rPr>
              <a:t>Corporate Travel Management</a:t>
            </a:r>
            <a:endParaRPr lang="en-US" sz="1000" dirty="0"/>
          </a:p>
        </p:txBody>
      </p:sp>
      <p:sp>
        <p:nvSpPr>
          <p:cNvPr id="35" name="Text 33"/>
          <p:cNvSpPr/>
          <p:nvPr/>
        </p:nvSpPr>
        <p:spPr>
          <a:xfrm>
            <a:off x="548640" y="4297680"/>
            <a:ext cx="8046720" cy="320040"/>
          </a:xfrm>
          <a:prstGeom prst="rect">
            <a:avLst/>
          </a:prstGeom>
          <a:noFill/>
          <a:ln/>
        </p:spPr>
        <p:txBody>
          <a:bodyPr wrap="square" rtlCol="0" anchor="ctr"/>
          <a:lstStyle/>
          <a:p>
            <a:pPr marL="0" indent="0" algn="ctr">
              <a:buNone/>
            </a:pPr>
            <a:r>
              <a:rPr lang="en-US" sz="1100" i="1" dirty="0">
                <a:solidFill>
                  <a:srgbClr val="1A8FB5"/>
                </a:solidFill>
                <a:latin typeface="Calibri" pitchFamily="34" charset="0"/>
                <a:ea typeface="Calibri" pitchFamily="34" charset="-122"/>
                <a:cs typeface="Calibri" pitchFamily="34" charset="-120"/>
              </a:rPr>
              <a:t>And many more satisfied corporate partners across Bangladesh.</a:t>
            </a:r>
            <a:endParaRPr lang="en-US" sz="1100" dirty="0"/>
          </a:p>
        </p:txBody>
      </p:sp>
      <p:pic>
        <p:nvPicPr>
          <p:cNvPr id="3074" name="Picture 2" descr="BRAC Bank Software Token – Apps on Google Play">
            <a:extLst>
              <a:ext uri="{FF2B5EF4-FFF2-40B4-BE49-F238E27FC236}">
                <a16:creationId xmlns:a16="http://schemas.microsoft.com/office/drawing/2014/main" id="{C2155461-93A1-1B06-B333-1F70745B4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4992" y="2082945"/>
            <a:ext cx="705975" cy="7059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AB6AEAC-5592-2AC1-2449-29B0DC2ACD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4757" y="2063750"/>
            <a:ext cx="688594" cy="6885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540"/>
          </a:solidFill>
          <a:ln/>
        </p:spPr>
      </p:sp>
      <p:sp>
        <p:nvSpPr>
          <p:cNvPr id="3" name="Shape 1"/>
          <p:cNvSpPr/>
          <p:nvPr/>
        </p:nvSpPr>
        <p:spPr>
          <a:xfrm>
            <a:off x="0" y="1005840"/>
            <a:ext cx="9144000" cy="36576"/>
          </a:xfrm>
          <a:prstGeom prst="rect">
            <a:avLst/>
          </a:prstGeom>
          <a:solidFill>
            <a:srgbClr val="D4A537"/>
          </a:solidFill>
          <a:ln/>
        </p:spPr>
      </p:sp>
      <p:sp>
        <p:nvSpPr>
          <p:cNvPr id="4" name="Text 2"/>
          <p:cNvSpPr/>
          <p:nvPr/>
        </p:nvSpPr>
        <p:spPr>
          <a:xfrm>
            <a:off x="548640" y="274320"/>
            <a:ext cx="7315200" cy="411480"/>
          </a:xfrm>
          <a:prstGeom prst="rect">
            <a:avLst/>
          </a:prstGeom>
          <a:noFill/>
          <a:ln/>
        </p:spPr>
        <p:txBody>
          <a:bodyPr wrap="square" rtlCol="0" anchor="ctr">
            <a:normAutofit fontScale="85000" lnSpcReduction="20000"/>
          </a:bodyPr>
          <a:lstStyle/>
          <a:p>
            <a:pPr marL="0" indent="0">
              <a:buNone/>
            </a:pPr>
            <a:r>
              <a:rPr lang="en-US" sz="2800" b="1" kern="0" spc="400" dirty="0">
                <a:solidFill>
                  <a:srgbClr val="FFFFFF"/>
                </a:solidFill>
                <a:latin typeface="Cambria" pitchFamily="34" charset="0"/>
                <a:ea typeface="Cambria" pitchFamily="34" charset="-122"/>
                <a:cs typeface="Cambria" pitchFamily="34" charset="-120"/>
              </a:rPr>
              <a:t>TRAVEL PROCESS</a:t>
            </a:r>
            <a:endParaRPr lang="en-US" sz="2800" dirty="0"/>
          </a:p>
        </p:txBody>
      </p:sp>
      <p:sp>
        <p:nvSpPr>
          <p:cNvPr id="5" name="Text 3"/>
          <p:cNvSpPr/>
          <p:nvPr/>
        </p:nvSpPr>
        <p:spPr>
          <a:xfrm>
            <a:off x="548640" y="749808"/>
            <a:ext cx="73152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HOW WE WORK — A 6-STEP JOURNEY</a:t>
            </a:r>
            <a:endParaRPr lang="en-US" sz="1000" dirty="0"/>
          </a:p>
        </p:txBody>
      </p:sp>
      <p:sp>
        <p:nvSpPr>
          <p:cNvPr id="6" name="Text 4"/>
          <p:cNvSpPr/>
          <p:nvPr/>
        </p:nvSpPr>
        <p:spPr>
          <a:xfrm>
            <a:off x="548640" y="1188720"/>
            <a:ext cx="8046720" cy="365760"/>
          </a:xfrm>
          <a:prstGeom prst="rect">
            <a:avLst/>
          </a:prstGeom>
          <a:noFill/>
          <a:ln/>
        </p:spPr>
        <p:txBody>
          <a:bodyPr wrap="square" rtlCol="0" anchor="t"/>
          <a:lstStyle/>
          <a:p>
            <a:pPr marL="0" indent="0" algn="l">
              <a:buNone/>
            </a:pPr>
            <a:r>
              <a:rPr lang="en-US" sz="1100" i="1" dirty="0">
                <a:solidFill>
                  <a:srgbClr val="5B6B7F"/>
                </a:solidFill>
                <a:latin typeface="Calibri" pitchFamily="34" charset="0"/>
                <a:ea typeface="Calibri" pitchFamily="34" charset="-122"/>
                <a:cs typeface="Calibri" pitchFamily="34" charset="-120"/>
              </a:rPr>
              <a:t>A clear, transparent process that keeps you informed and supported at every stage — from initial inquiry to safe return.</a:t>
            </a:r>
            <a:endParaRPr lang="en-US" sz="1100" dirty="0"/>
          </a:p>
        </p:txBody>
      </p:sp>
      <p:sp>
        <p:nvSpPr>
          <p:cNvPr id="7" name="Shape 5"/>
          <p:cNvSpPr/>
          <p:nvPr/>
        </p:nvSpPr>
        <p:spPr>
          <a:xfrm>
            <a:off x="640080" y="2011680"/>
            <a:ext cx="868680" cy="868680"/>
          </a:xfrm>
          <a:prstGeom prst="ellipse">
            <a:avLst/>
          </a:prstGeom>
          <a:solidFill>
            <a:srgbClr val="0E5C8A"/>
          </a:solidFill>
          <a:ln/>
          <a:effectLst>
            <a:outerShdw blurRad="101600" dist="25400" dir="5400000" algn="bl" rotWithShape="0">
              <a:srgbClr val="1A2533">
                <a:alpha val="12000"/>
              </a:srgbClr>
            </a:outerShdw>
          </a:effectLst>
        </p:spPr>
      </p:sp>
      <p:sp>
        <p:nvSpPr>
          <p:cNvPr id="8" name="Text 6"/>
          <p:cNvSpPr/>
          <p:nvPr/>
        </p:nvSpPr>
        <p:spPr>
          <a:xfrm>
            <a:off x="640080" y="2011680"/>
            <a:ext cx="868680" cy="868680"/>
          </a:xfrm>
          <a:prstGeom prst="rect">
            <a:avLst/>
          </a:prstGeom>
          <a:noFill/>
          <a:ln/>
        </p:spPr>
        <p:txBody>
          <a:bodyPr wrap="square" rtlCol="0" anchor="ctr">
            <a:normAutofit/>
          </a:bodyP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9" name="Text 7"/>
          <p:cNvSpPr/>
          <p:nvPr/>
        </p:nvSpPr>
        <p:spPr>
          <a:xfrm>
            <a:off x="434340" y="3017520"/>
            <a:ext cx="1280160" cy="274320"/>
          </a:xfrm>
          <a:prstGeom prst="rect">
            <a:avLst/>
          </a:prstGeom>
          <a:noFill/>
          <a:ln/>
        </p:spPr>
        <p:txBody>
          <a:bodyPr wrap="square" rtlCol="0" anchor="ctr"/>
          <a:lstStyle/>
          <a:p>
            <a:pPr marL="0" indent="0" algn="ctr">
              <a:buNone/>
            </a:pPr>
            <a:r>
              <a:rPr lang="en-US" sz="1100" b="1" dirty="0">
                <a:solidFill>
                  <a:srgbClr val="0E5C8A"/>
                </a:solidFill>
                <a:latin typeface="Cambria" pitchFamily="34" charset="0"/>
                <a:ea typeface="Cambria" pitchFamily="34" charset="-122"/>
                <a:cs typeface="Cambria" pitchFamily="34" charset="-120"/>
              </a:rPr>
              <a:t>Requirement</a:t>
            </a:r>
            <a:endParaRPr lang="en-US" sz="1100" dirty="0"/>
          </a:p>
        </p:txBody>
      </p:sp>
      <p:sp>
        <p:nvSpPr>
          <p:cNvPr id="10" name="Text 8"/>
          <p:cNvSpPr/>
          <p:nvPr/>
        </p:nvSpPr>
        <p:spPr>
          <a:xfrm>
            <a:off x="434340" y="3337560"/>
            <a:ext cx="1280160" cy="1005840"/>
          </a:xfrm>
          <a:prstGeom prst="rect">
            <a:avLst/>
          </a:prstGeom>
          <a:noFill/>
          <a:ln/>
        </p:spPr>
        <p:txBody>
          <a:bodyPr wrap="square" rtlCol="0" anchor="t">
            <a:normAutofit/>
          </a:bodyPr>
          <a:lstStyle/>
          <a:p>
            <a:pPr marL="0" indent="0" algn="ctr">
              <a:buNone/>
            </a:pPr>
            <a:r>
              <a:rPr lang="en-US" sz="950" dirty="0">
                <a:solidFill>
                  <a:srgbClr val="1A2533"/>
                </a:solidFill>
                <a:latin typeface="Calibri" pitchFamily="34" charset="0"/>
                <a:ea typeface="Calibri" pitchFamily="34" charset="-122"/>
                <a:cs typeface="Calibri" pitchFamily="34" charset="-120"/>
              </a:rPr>
              <a:t>We listen to your travel needs, dates, budget, and preferences.</a:t>
            </a:r>
            <a:endParaRPr lang="en-US" sz="950" dirty="0"/>
          </a:p>
        </p:txBody>
      </p:sp>
      <p:sp>
        <p:nvSpPr>
          <p:cNvPr id="11" name="Shape 9"/>
          <p:cNvSpPr/>
          <p:nvPr/>
        </p:nvSpPr>
        <p:spPr>
          <a:xfrm rot="5400000">
            <a:off x="1696212" y="2382012"/>
            <a:ext cx="128016" cy="128016"/>
          </a:xfrm>
          <a:prstGeom prst="rtTriangle">
            <a:avLst/>
          </a:prstGeom>
          <a:solidFill>
            <a:srgbClr val="D4A537"/>
          </a:solidFill>
          <a:ln/>
        </p:spPr>
      </p:sp>
      <p:sp>
        <p:nvSpPr>
          <p:cNvPr id="12" name="Shape 10"/>
          <p:cNvSpPr/>
          <p:nvPr/>
        </p:nvSpPr>
        <p:spPr>
          <a:xfrm>
            <a:off x="2039112" y="2011680"/>
            <a:ext cx="868680" cy="868680"/>
          </a:xfrm>
          <a:prstGeom prst="ellipse">
            <a:avLst/>
          </a:prstGeom>
          <a:solidFill>
            <a:srgbClr val="0E5C8A"/>
          </a:solidFill>
          <a:ln/>
          <a:effectLst>
            <a:outerShdw blurRad="101600" dist="25400" dir="5400000" algn="bl" rotWithShape="0">
              <a:srgbClr val="1A2533">
                <a:alpha val="12000"/>
              </a:srgbClr>
            </a:outerShdw>
          </a:effectLst>
        </p:spPr>
      </p:sp>
      <p:sp>
        <p:nvSpPr>
          <p:cNvPr id="13" name="Text 11"/>
          <p:cNvSpPr/>
          <p:nvPr/>
        </p:nvSpPr>
        <p:spPr>
          <a:xfrm>
            <a:off x="2039112" y="2011680"/>
            <a:ext cx="868680" cy="868680"/>
          </a:xfrm>
          <a:prstGeom prst="rect">
            <a:avLst/>
          </a:prstGeom>
          <a:noFill/>
          <a:ln/>
        </p:spPr>
        <p:txBody>
          <a:bodyPr wrap="square" rtlCol="0" anchor="ctr">
            <a:normAutofit/>
          </a:bodyP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4" name="Text 12"/>
          <p:cNvSpPr/>
          <p:nvPr/>
        </p:nvSpPr>
        <p:spPr>
          <a:xfrm>
            <a:off x="1833372" y="3017520"/>
            <a:ext cx="1280160" cy="274320"/>
          </a:xfrm>
          <a:prstGeom prst="rect">
            <a:avLst/>
          </a:prstGeom>
          <a:noFill/>
          <a:ln/>
        </p:spPr>
        <p:txBody>
          <a:bodyPr wrap="square" rtlCol="0" anchor="ctr"/>
          <a:lstStyle/>
          <a:p>
            <a:pPr marL="0" indent="0" algn="ctr">
              <a:buNone/>
            </a:pPr>
            <a:r>
              <a:rPr lang="en-US" sz="1100" b="1" dirty="0">
                <a:solidFill>
                  <a:srgbClr val="0E5C8A"/>
                </a:solidFill>
                <a:latin typeface="Cambria" pitchFamily="34" charset="0"/>
                <a:ea typeface="Cambria" pitchFamily="34" charset="-122"/>
                <a:cs typeface="Cambria" pitchFamily="34" charset="-120"/>
              </a:rPr>
              <a:t>Get Custom Quote</a:t>
            </a:r>
            <a:endParaRPr lang="en-US" sz="1100" dirty="0"/>
          </a:p>
        </p:txBody>
      </p:sp>
      <p:sp>
        <p:nvSpPr>
          <p:cNvPr id="15" name="Text 13"/>
          <p:cNvSpPr/>
          <p:nvPr/>
        </p:nvSpPr>
        <p:spPr>
          <a:xfrm>
            <a:off x="1833372" y="3337560"/>
            <a:ext cx="1280160" cy="1005840"/>
          </a:xfrm>
          <a:prstGeom prst="rect">
            <a:avLst/>
          </a:prstGeom>
          <a:noFill/>
          <a:ln/>
        </p:spPr>
        <p:txBody>
          <a:bodyPr wrap="square" rtlCol="0" anchor="t">
            <a:normAutofit/>
          </a:bodyPr>
          <a:lstStyle/>
          <a:p>
            <a:pPr marL="0" indent="0" algn="ctr">
              <a:buNone/>
            </a:pPr>
            <a:r>
              <a:rPr lang="en-US" sz="950" dirty="0">
                <a:solidFill>
                  <a:srgbClr val="1A2533"/>
                </a:solidFill>
                <a:latin typeface="Calibri" pitchFamily="34" charset="0"/>
                <a:ea typeface="Calibri" pitchFamily="34" charset="-122"/>
                <a:cs typeface="Calibri" pitchFamily="34" charset="-120"/>
              </a:rPr>
              <a:t>You receive a tailored quote with multiple options within 24 hours.</a:t>
            </a:r>
            <a:endParaRPr lang="en-US" sz="950" dirty="0"/>
          </a:p>
        </p:txBody>
      </p:sp>
      <p:sp>
        <p:nvSpPr>
          <p:cNvPr id="16" name="Shape 14"/>
          <p:cNvSpPr/>
          <p:nvPr/>
        </p:nvSpPr>
        <p:spPr>
          <a:xfrm rot="5400000">
            <a:off x="3095244" y="2382012"/>
            <a:ext cx="128016" cy="128016"/>
          </a:xfrm>
          <a:prstGeom prst="rtTriangle">
            <a:avLst/>
          </a:prstGeom>
          <a:solidFill>
            <a:srgbClr val="D4A537"/>
          </a:solidFill>
          <a:ln/>
        </p:spPr>
      </p:sp>
      <p:sp>
        <p:nvSpPr>
          <p:cNvPr id="17" name="Shape 15"/>
          <p:cNvSpPr/>
          <p:nvPr/>
        </p:nvSpPr>
        <p:spPr>
          <a:xfrm>
            <a:off x="3438144" y="2011680"/>
            <a:ext cx="868680" cy="868680"/>
          </a:xfrm>
          <a:prstGeom prst="ellipse">
            <a:avLst/>
          </a:prstGeom>
          <a:solidFill>
            <a:srgbClr val="0E5C8A"/>
          </a:solidFill>
          <a:ln/>
          <a:effectLst>
            <a:outerShdw blurRad="101600" dist="25400" dir="5400000" algn="bl" rotWithShape="0">
              <a:srgbClr val="1A2533">
                <a:alpha val="12000"/>
              </a:srgbClr>
            </a:outerShdw>
          </a:effectLst>
        </p:spPr>
      </p:sp>
      <p:sp>
        <p:nvSpPr>
          <p:cNvPr id="18" name="Text 16"/>
          <p:cNvSpPr/>
          <p:nvPr/>
        </p:nvSpPr>
        <p:spPr>
          <a:xfrm>
            <a:off x="3438144" y="2011680"/>
            <a:ext cx="868680" cy="868680"/>
          </a:xfrm>
          <a:prstGeom prst="rect">
            <a:avLst/>
          </a:prstGeom>
          <a:noFill/>
          <a:ln/>
        </p:spPr>
        <p:txBody>
          <a:bodyPr wrap="square" rtlCol="0" anchor="ctr">
            <a:normAutofit/>
          </a:bodyP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9" name="Text 17"/>
          <p:cNvSpPr/>
          <p:nvPr/>
        </p:nvSpPr>
        <p:spPr>
          <a:xfrm>
            <a:off x="3232404" y="3017520"/>
            <a:ext cx="1280160" cy="274320"/>
          </a:xfrm>
          <a:prstGeom prst="rect">
            <a:avLst/>
          </a:prstGeom>
          <a:noFill/>
          <a:ln/>
        </p:spPr>
        <p:txBody>
          <a:bodyPr wrap="square" rtlCol="0" anchor="ctr"/>
          <a:lstStyle/>
          <a:p>
            <a:pPr marL="0" indent="0" algn="ctr">
              <a:buNone/>
            </a:pPr>
            <a:r>
              <a:rPr lang="en-US" sz="1100" b="1" dirty="0">
                <a:solidFill>
                  <a:srgbClr val="0E5C8A"/>
                </a:solidFill>
                <a:latin typeface="Cambria" pitchFamily="34" charset="0"/>
                <a:ea typeface="Cambria" pitchFamily="34" charset="-122"/>
                <a:cs typeface="Cambria" pitchFamily="34" charset="-120"/>
              </a:rPr>
              <a:t>Planning</a:t>
            </a:r>
            <a:endParaRPr lang="en-US" sz="1100" dirty="0"/>
          </a:p>
        </p:txBody>
      </p:sp>
      <p:sp>
        <p:nvSpPr>
          <p:cNvPr id="20" name="Text 18"/>
          <p:cNvSpPr/>
          <p:nvPr/>
        </p:nvSpPr>
        <p:spPr>
          <a:xfrm>
            <a:off x="3232404" y="3337560"/>
            <a:ext cx="1280160" cy="1005840"/>
          </a:xfrm>
          <a:prstGeom prst="rect">
            <a:avLst/>
          </a:prstGeom>
          <a:noFill/>
          <a:ln/>
        </p:spPr>
        <p:txBody>
          <a:bodyPr wrap="square" rtlCol="0" anchor="t">
            <a:normAutofit/>
          </a:bodyPr>
          <a:lstStyle/>
          <a:p>
            <a:pPr marL="0" indent="0" algn="ctr">
              <a:buNone/>
            </a:pPr>
            <a:r>
              <a:rPr lang="en-US" sz="950" dirty="0">
                <a:solidFill>
                  <a:srgbClr val="1A2533"/>
                </a:solidFill>
                <a:latin typeface="Calibri" pitchFamily="34" charset="0"/>
                <a:ea typeface="Calibri" pitchFamily="34" charset="-122"/>
                <a:cs typeface="Calibri" pitchFamily="34" charset="-120"/>
              </a:rPr>
              <a:t>Our team builds the optimal itinerary, handling all logistics.</a:t>
            </a:r>
            <a:endParaRPr lang="en-US" sz="950" dirty="0"/>
          </a:p>
        </p:txBody>
      </p:sp>
      <p:sp>
        <p:nvSpPr>
          <p:cNvPr id="21" name="Shape 19"/>
          <p:cNvSpPr/>
          <p:nvPr/>
        </p:nvSpPr>
        <p:spPr>
          <a:xfrm rot="5400000">
            <a:off x="4494276" y="2382012"/>
            <a:ext cx="128016" cy="128016"/>
          </a:xfrm>
          <a:prstGeom prst="rtTriangle">
            <a:avLst/>
          </a:prstGeom>
          <a:solidFill>
            <a:srgbClr val="D4A537"/>
          </a:solidFill>
          <a:ln/>
        </p:spPr>
      </p:sp>
      <p:sp>
        <p:nvSpPr>
          <p:cNvPr id="22" name="Shape 20"/>
          <p:cNvSpPr/>
          <p:nvPr/>
        </p:nvSpPr>
        <p:spPr>
          <a:xfrm>
            <a:off x="4837176" y="2011680"/>
            <a:ext cx="868680" cy="868680"/>
          </a:xfrm>
          <a:prstGeom prst="ellipse">
            <a:avLst/>
          </a:prstGeom>
          <a:solidFill>
            <a:srgbClr val="0E5C8A"/>
          </a:solidFill>
          <a:ln/>
          <a:effectLst>
            <a:outerShdw blurRad="101600" dist="25400" dir="5400000" algn="bl" rotWithShape="0">
              <a:srgbClr val="1A2533">
                <a:alpha val="12000"/>
              </a:srgbClr>
            </a:outerShdw>
          </a:effectLst>
        </p:spPr>
      </p:sp>
      <p:sp>
        <p:nvSpPr>
          <p:cNvPr id="23" name="Text 21"/>
          <p:cNvSpPr/>
          <p:nvPr/>
        </p:nvSpPr>
        <p:spPr>
          <a:xfrm>
            <a:off x="4837176" y="2011680"/>
            <a:ext cx="868680" cy="868680"/>
          </a:xfrm>
          <a:prstGeom prst="rect">
            <a:avLst/>
          </a:prstGeom>
          <a:noFill/>
          <a:ln/>
        </p:spPr>
        <p:txBody>
          <a:bodyPr wrap="square" rtlCol="0" anchor="ctr">
            <a:normAutofit/>
          </a:bodyPr>
          <a:lstStyle/>
          <a:p>
            <a:pPr marL="0" indent="0" algn="ctr">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4" name="Text 22"/>
          <p:cNvSpPr/>
          <p:nvPr/>
        </p:nvSpPr>
        <p:spPr>
          <a:xfrm>
            <a:off x="4631436" y="3017520"/>
            <a:ext cx="1280160" cy="274320"/>
          </a:xfrm>
          <a:prstGeom prst="rect">
            <a:avLst/>
          </a:prstGeom>
          <a:noFill/>
          <a:ln/>
        </p:spPr>
        <p:txBody>
          <a:bodyPr wrap="square" rtlCol="0" anchor="ctr"/>
          <a:lstStyle/>
          <a:p>
            <a:pPr marL="0" indent="0" algn="ctr">
              <a:buNone/>
            </a:pPr>
            <a:r>
              <a:rPr lang="en-US" sz="1100" b="1" dirty="0">
                <a:solidFill>
                  <a:srgbClr val="0E5C8A"/>
                </a:solidFill>
                <a:latin typeface="Cambria" pitchFamily="34" charset="0"/>
                <a:ea typeface="Cambria" pitchFamily="34" charset="-122"/>
                <a:cs typeface="Cambria" pitchFamily="34" charset="-120"/>
              </a:rPr>
              <a:t>Book &amp; Arrange</a:t>
            </a:r>
            <a:endParaRPr lang="en-US" sz="1100" dirty="0"/>
          </a:p>
        </p:txBody>
      </p:sp>
      <p:sp>
        <p:nvSpPr>
          <p:cNvPr id="25" name="Text 23"/>
          <p:cNvSpPr/>
          <p:nvPr/>
        </p:nvSpPr>
        <p:spPr>
          <a:xfrm>
            <a:off x="4631436" y="3337560"/>
            <a:ext cx="1280160" cy="1005840"/>
          </a:xfrm>
          <a:prstGeom prst="rect">
            <a:avLst/>
          </a:prstGeom>
          <a:noFill/>
          <a:ln/>
        </p:spPr>
        <p:txBody>
          <a:bodyPr wrap="square" rtlCol="0" anchor="t">
            <a:normAutofit/>
          </a:bodyPr>
          <a:lstStyle/>
          <a:p>
            <a:pPr marL="0" indent="0" algn="ctr">
              <a:buNone/>
            </a:pPr>
            <a:r>
              <a:rPr lang="en-US" sz="950" dirty="0">
                <a:solidFill>
                  <a:srgbClr val="1A2533"/>
                </a:solidFill>
                <a:latin typeface="Calibri" pitchFamily="34" charset="0"/>
                <a:ea typeface="Calibri" pitchFamily="34" charset="-122"/>
                <a:cs typeface="Calibri" pitchFamily="34" charset="-120"/>
              </a:rPr>
              <a:t>We confirm bookings, visas, hotels, transfers, and insurance.</a:t>
            </a:r>
            <a:endParaRPr lang="en-US" sz="950" dirty="0"/>
          </a:p>
        </p:txBody>
      </p:sp>
      <p:sp>
        <p:nvSpPr>
          <p:cNvPr id="26" name="Shape 24"/>
          <p:cNvSpPr/>
          <p:nvPr/>
        </p:nvSpPr>
        <p:spPr>
          <a:xfrm rot="5400000">
            <a:off x="5893308" y="2382012"/>
            <a:ext cx="128016" cy="128016"/>
          </a:xfrm>
          <a:prstGeom prst="rtTriangle">
            <a:avLst/>
          </a:prstGeom>
          <a:solidFill>
            <a:srgbClr val="D4A537"/>
          </a:solidFill>
          <a:ln/>
        </p:spPr>
      </p:sp>
      <p:sp>
        <p:nvSpPr>
          <p:cNvPr id="27" name="Shape 25"/>
          <p:cNvSpPr/>
          <p:nvPr/>
        </p:nvSpPr>
        <p:spPr>
          <a:xfrm>
            <a:off x="6236208" y="2011680"/>
            <a:ext cx="868680" cy="868680"/>
          </a:xfrm>
          <a:prstGeom prst="ellipse">
            <a:avLst/>
          </a:prstGeom>
          <a:solidFill>
            <a:srgbClr val="0E5C8A"/>
          </a:solidFill>
          <a:ln/>
          <a:effectLst>
            <a:outerShdw blurRad="101600" dist="25400" dir="5400000" algn="bl" rotWithShape="0">
              <a:srgbClr val="1A2533">
                <a:alpha val="12000"/>
              </a:srgbClr>
            </a:outerShdw>
          </a:effectLst>
        </p:spPr>
      </p:sp>
      <p:sp>
        <p:nvSpPr>
          <p:cNvPr id="28" name="Text 26"/>
          <p:cNvSpPr/>
          <p:nvPr/>
        </p:nvSpPr>
        <p:spPr>
          <a:xfrm>
            <a:off x="6236208" y="2011680"/>
            <a:ext cx="868680" cy="868680"/>
          </a:xfrm>
          <a:prstGeom prst="rect">
            <a:avLst/>
          </a:prstGeom>
          <a:noFill/>
          <a:ln/>
        </p:spPr>
        <p:txBody>
          <a:bodyPr wrap="square" rtlCol="0" anchor="ctr">
            <a:normAutofit/>
          </a:bodyPr>
          <a:lstStyle/>
          <a:p>
            <a:pPr marL="0" indent="0" algn="ctr">
              <a:buNone/>
            </a:pPr>
            <a:r>
              <a:rPr lang="en-US" sz="2800" b="1" dirty="0">
                <a:solidFill>
                  <a:srgbClr val="FFFFFF"/>
                </a:solidFill>
                <a:latin typeface="Cambria" pitchFamily="34" charset="0"/>
                <a:ea typeface="Cambria" pitchFamily="34" charset="-122"/>
                <a:cs typeface="Cambria" pitchFamily="34" charset="-120"/>
              </a:rPr>
              <a:t>5</a:t>
            </a:r>
            <a:endParaRPr lang="en-US" sz="2800" dirty="0"/>
          </a:p>
        </p:txBody>
      </p:sp>
      <p:sp>
        <p:nvSpPr>
          <p:cNvPr id="29" name="Text 27"/>
          <p:cNvSpPr/>
          <p:nvPr/>
        </p:nvSpPr>
        <p:spPr>
          <a:xfrm>
            <a:off x="6030468" y="3017520"/>
            <a:ext cx="1280160" cy="274320"/>
          </a:xfrm>
          <a:prstGeom prst="rect">
            <a:avLst/>
          </a:prstGeom>
          <a:noFill/>
          <a:ln/>
        </p:spPr>
        <p:txBody>
          <a:bodyPr wrap="square" rtlCol="0" anchor="ctr"/>
          <a:lstStyle/>
          <a:p>
            <a:pPr marL="0" indent="0" algn="ctr">
              <a:buNone/>
            </a:pPr>
            <a:r>
              <a:rPr lang="en-US" sz="1100" b="1" dirty="0">
                <a:solidFill>
                  <a:srgbClr val="0E5C8A"/>
                </a:solidFill>
                <a:latin typeface="Cambria" pitchFamily="34" charset="0"/>
                <a:ea typeface="Cambria" pitchFamily="34" charset="-122"/>
                <a:cs typeface="Cambria" pitchFamily="34" charset="-120"/>
              </a:rPr>
              <a:t>Travel Support</a:t>
            </a:r>
            <a:endParaRPr lang="en-US" sz="1100" dirty="0"/>
          </a:p>
        </p:txBody>
      </p:sp>
      <p:sp>
        <p:nvSpPr>
          <p:cNvPr id="30" name="Text 28"/>
          <p:cNvSpPr/>
          <p:nvPr/>
        </p:nvSpPr>
        <p:spPr>
          <a:xfrm>
            <a:off x="6030468" y="3337560"/>
            <a:ext cx="1280160" cy="1005840"/>
          </a:xfrm>
          <a:prstGeom prst="rect">
            <a:avLst/>
          </a:prstGeom>
          <a:noFill/>
          <a:ln/>
        </p:spPr>
        <p:txBody>
          <a:bodyPr wrap="square" rtlCol="0" anchor="t">
            <a:normAutofit/>
          </a:bodyPr>
          <a:lstStyle/>
          <a:p>
            <a:pPr marL="0" indent="0" algn="ctr">
              <a:buNone/>
            </a:pPr>
            <a:r>
              <a:rPr lang="en-US" sz="950" dirty="0">
                <a:solidFill>
                  <a:srgbClr val="1A2533"/>
                </a:solidFill>
                <a:latin typeface="Calibri" pitchFamily="34" charset="0"/>
                <a:ea typeface="Calibri" pitchFamily="34" charset="-122"/>
                <a:cs typeface="Calibri" pitchFamily="34" charset="-120"/>
              </a:rPr>
              <a:t>24/7 support during your trip for any changes or emergencies.</a:t>
            </a:r>
            <a:endParaRPr lang="en-US" sz="950" dirty="0"/>
          </a:p>
        </p:txBody>
      </p:sp>
      <p:sp>
        <p:nvSpPr>
          <p:cNvPr id="31" name="Shape 29"/>
          <p:cNvSpPr/>
          <p:nvPr/>
        </p:nvSpPr>
        <p:spPr>
          <a:xfrm rot="5400000">
            <a:off x="7292340" y="2382012"/>
            <a:ext cx="128016" cy="128016"/>
          </a:xfrm>
          <a:prstGeom prst="rtTriangle">
            <a:avLst/>
          </a:prstGeom>
          <a:solidFill>
            <a:srgbClr val="D4A537"/>
          </a:solidFill>
          <a:ln/>
        </p:spPr>
      </p:sp>
      <p:sp>
        <p:nvSpPr>
          <p:cNvPr id="32" name="Shape 30"/>
          <p:cNvSpPr/>
          <p:nvPr/>
        </p:nvSpPr>
        <p:spPr>
          <a:xfrm>
            <a:off x="7635240" y="2011680"/>
            <a:ext cx="868680" cy="868680"/>
          </a:xfrm>
          <a:prstGeom prst="ellipse">
            <a:avLst/>
          </a:prstGeom>
          <a:solidFill>
            <a:srgbClr val="D4A537"/>
          </a:solidFill>
          <a:ln/>
          <a:effectLst>
            <a:outerShdw blurRad="101600" dist="25400" dir="5400000" algn="bl" rotWithShape="0">
              <a:srgbClr val="1A2533">
                <a:alpha val="12000"/>
              </a:srgbClr>
            </a:outerShdw>
          </a:effectLst>
        </p:spPr>
      </p:sp>
      <p:sp>
        <p:nvSpPr>
          <p:cNvPr id="33" name="Text 31"/>
          <p:cNvSpPr/>
          <p:nvPr/>
        </p:nvSpPr>
        <p:spPr>
          <a:xfrm>
            <a:off x="7635240" y="2011680"/>
            <a:ext cx="868680" cy="868680"/>
          </a:xfrm>
          <a:prstGeom prst="rect">
            <a:avLst/>
          </a:prstGeom>
          <a:noFill/>
          <a:ln/>
        </p:spPr>
        <p:txBody>
          <a:bodyPr wrap="square" rtlCol="0" anchor="ctr">
            <a:normAutofit/>
          </a:bodyPr>
          <a:lstStyle/>
          <a:p>
            <a:pPr marL="0" indent="0" algn="ctr">
              <a:buNone/>
            </a:pPr>
            <a:r>
              <a:rPr lang="en-US" sz="2800" b="1" dirty="0">
                <a:solidFill>
                  <a:srgbClr val="FFFFFF"/>
                </a:solidFill>
                <a:latin typeface="Cambria" pitchFamily="34" charset="0"/>
                <a:ea typeface="Cambria" pitchFamily="34" charset="-122"/>
                <a:cs typeface="Cambria" pitchFamily="34" charset="-120"/>
              </a:rPr>
              <a:t>6</a:t>
            </a:r>
            <a:endParaRPr lang="en-US" sz="2800" dirty="0"/>
          </a:p>
        </p:txBody>
      </p:sp>
      <p:sp>
        <p:nvSpPr>
          <p:cNvPr id="34" name="Text 32"/>
          <p:cNvSpPr/>
          <p:nvPr/>
        </p:nvSpPr>
        <p:spPr>
          <a:xfrm>
            <a:off x="7429500" y="3017520"/>
            <a:ext cx="1280160" cy="274320"/>
          </a:xfrm>
          <a:prstGeom prst="rect">
            <a:avLst/>
          </a:prstGeom>
          <a:noFill/>
          <a:ln/>
        </p:spPr>
        <p:txBody>
          <a:bodyPr wrap="square" rtlCol="0" anchor="ctr"/>
          <a:lstStyle/>
          <a:p>
            <a:pPr marL="0" indent="0" algn="ctr">
              <a:buNone/>
            </a:pPr>
            <a:r>
              <a:rPr lang="en-US" sz="1100" b="1" dirty="0">
                <a:solidFill>
                  <a:srgbClr val="0E5C8A"/>
                </a:solidFill>
                <a:latin typeface="Cambria" pitchFamily="34" charset="0"/>
                <a:ea typeface="Cambria" pitchFamily="34" charset="-122"/>
                <a:cs typeface="Cambria" pitchFamily="34" charset="-120"/>
              </a:rPr>
              <a:t>Safe Return</a:t>
            </a:r>
            <a:endParaRPr lang="en-US" sz="1100" dirty="0"/>
          </a:p>
        </p:txBody>
      </p:sp>
      <p:sp>
        <p:nvSpPr>
          <p:cNvPr id="35" name="Text 33"/>
          <p:cNvSpPr/>
          <p:nvPr/>
        </p:nvSpPr>
        <p:spPr>
          <a:xfrm>
            <a:off x="7429500" y="3337560"/>
            <a:ext cx="1280160" cy="1005840"/>
          </a:xfrm>
          <a:prstGeom prst="rect">
            <a:avLst/>
          </a:prstGeom>
          <a:noFill/>
          <a:ln/>
        </p:spPr>
        <p:txBody>
          <a:bodyPr wrap="square" rtlCol="0" anchor="t">
            <a:normAutofit/>
          </a:bodyPr>
          <a:lstStyle/>
          <a:p>
            <a:pPr marL="0" indent="0" algn="ctr">
              <a:buNone/>
            </a:pPr>
            <a:r>
              <a:rPr lang="en-US" sz="950" dirty="0">
                <a:solidFill>
                  <a:srgbClr val="1A2533"/>
                </a:solidFill>
                <a:latin typeface="Calibri" pitchFamily="34" charset="0"/>
                <a:ea typeface="Calibri" pitchFamily="34" charset="-122"/>
                <a:cs typeface="Calibri" pitchFamily="34" charset="-120"/>
              </a:rPr>
              <a:t>We follow up post-trip to ensure everything went smoothly.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540"/>
          </a:solidFill>
          <a:ln/>
        </p:spPr>
      </p:sp>
      <p:sp>
        <p:nvSpPr>
          <p:cNvPr id="3" name="Shape 1"/>
          <p:cNvSpPr/>
          <p:nvPr/>
        </p:nvSpPr>
        <p:spPr>
          <a:xfrm>
            <a:off x="0" y="1005840"/>
            <a:ext cx="9144000" cy="36576"/>
          </a:xfrm>
          <a:prstGeom prst="rect">
            <a:avLst/>
          </a:prstGeom>
          <a:solidFill>
            <a:srgbClr val="D4A537"/>
          </a:solidFill>
          <a:ln/>
        </p:spPr>
      </p:sp>
      <p:sp>
        <p:nvSpPr>
          <p:cNvPr id="4" name="Text 2"/>
          <p:cNvSpPr/>
          <p:nvPr/>
        </p:nvSpPr>
        <p:spPr>
          <a:xfrm>
            <a:off x="548640" y="274320"/>
            <a:ext cx="8046720" cy="411480"/>
          </a:xfrm>
          <a:prstGeom prst="rect">
            <a:avLst/>
          </a:prstGeom>
          <a:noFill/>
          <a:ln/>
        </p:spPr>
        <p:txBody>
          <a:bodyPr wrap="square" rtlCol="0" anchor="ctr">
            <a:normAutofit fontScale="92500" lnSpcReduction="20000"/>
          </a:bodyPr>
          <a:lstStyle/>
          <a:p>
            <a:pPr marL="0" indent="0">
              <a:buNone/>
            </a:pPr>
            <a:r>
              <a:rPr lang="en-US" sz="2600" b="1" kern="0" spc="400" dirty="0">
                <a:solidFill>
                  <a:srgbClr val="FFFFFF"/>
                </a:solidFill>
                <a:latin typeface="Cambria" pitchFamily="34" charset="0"/>
                <a:ea typeface="Cambria" pitchFamily="34" charset="-122"/>
                <a:cs typeface="Cambria" pitchFamily="34" charset="-120"/>
              </a:rPr>
              <a:t>CERTIFICATIONS &amp; LEADERSHIP</a:t>
            </a:r>
            <a:endParaRPr lang="en-US" sz="2600" dirty="0"/>
          </a:p>
        </p:txBody>
      </p:sp>
      <p:sp>
        <p:nvSpPr>
          <p:cNvPr id="5" name="Text 3"/>
          <p:cNvSpPr/>
          <p:nvPr/>
        </p:nvSpPr>
        <p:spPr>
          <a:xfrm>
            <a:off x="548640" y="749808"/>
            <a:ext cx="73152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STANDARDS</a:t>
            </a:r>
            <a:endParaRPr lang="en-US" sz="1000" dirty="0"/>
          </a:p>
        </p:txBody>
      </p:sp>
      <p:sp>
        <p:nvSpPr>
          <p:cNvPr id="6" name="Text 4"/>
          <p:cNvSpPr/>
          <p:nvPr/>
        </p:nvSpPr>
        <p:spPr>
          <a:xfrm>
            <a:off x="548640" y="1234440"/>
            <a:ext cx="3931920" cy="320040"/>
          </a:xfrm>
          <a:prstGeom prst="rect">
            <a:avLst/>
          </a:prstGeom>
          <a:noFill/>
          <a:ln/>
        </p:spPr>
        <p:txBody>
          <a:bodyPr wrap="square" rtlCol="0" anchor="ctr"/>
          <a:lstStyle/>
          <a:p>
            <a:pPr marL="0" indent="0" algn="l">
              <a:buNone/>
            </a:pPr>
            <a:r>
              <a:rPr lang="en-US" sz="1600" b="1" dirty="0">
                <a:solidFill>
                  <a:srgbClr val="1A8FB5"/>
                </a:solidFill>
                <a:latin typeface="Cambria" pitchFamily="34" charset="0"/>
                <a:ea typeface="Cambria" pitchFamily="34" charset="-122"/>
                <a:cs typeface="Cambria" pitchFamily="34" charset="-120"/>
              </a:rPr>
              <a:t>Company Certifications</a:t>
            </a:r>
            <a:endParaRPr lang="en-US" sz="1600" dirty="0"/>
          </a:p>
        </p:txBody>
      </p:sp>
      <p:sp>
        <p:nvSpPr>
          <p:cNvPr id="7" name="Text 5"/>
          <p:cNvSpPr/>
          <p:nvPr/>
        </p:nvSpPr>
        <p:spPr>
          <a:xfrm>
            <a:off x="548639" y="1600200"/>
            <a:ext cx="6810103" cy="502920"/>
          </a:xfrm>
          <a:prstGeom prst="rect">
            <a:avLst/>
          </a:prstGeom>
          <a:noFill/>
          <a:ln/>
        </p:spPr>
        <p:txBody>
          <a:bodyPr wrap="square" rtlCol="0" anchor="t">
            <a:normAutofit/>
          </a:bodyPr>
          <a:lstStyle/>
          <a:p>
            <a:pPr marL="0" indent="0" algn="l">
              <a:buNone/>
            </a:pPr>
            <a:r>
              <a:rPr lang="en-US" sz="1050" dirty="0">
                <a:solidFill>
                  <a:srgbClr val="1A2533"/>
                </a:solidFill>
                <a:latin typeface="Calibri" pitchFamily="34" charset="0"/>
                <a:ea typeface="Calibri" pitchFamily="34" charset="-122"/>
                <a:cs typeface="Calibri" pitchFamily="34" charset="-120"/>
              </a:rPr>
              <a:t>Our accreditations reflect commitment to professional standards, ethical business practices, and recognized quality in the Bangladesh travel industry.</a:t>
            </a:r>
            <a:endParaRPr lang="en-US" sz="1050" dirty="0"/>
          </a:p>
        </p:txBody>
      </p:sp>
      <p:sp>
        <p:nvSpPr>
          <p:cNvPr id="8" name="Shape 6"/>
          <p:cNvSpPr/>
          <p:nvPr/>
        </p:nvSpPr>
        <p:spPr>
          <a:xfrm>
            <a:off x="548640" y="224028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9" name="Shape 7"/>
          <p:cNvSpPr/>
          <p:nvPr/>
        </p:nvSpPr>
        <p:spPr>
          <a:xfrm>
            <a:off x="658368" y="2350008"/>
            <a:ext cx="1005840" cy="512064"/>
          </a:xfrm>
          <a:prstGeom prst="roundRect">
            <a:avLst>
              <a:gd name="adj" fmla="val 7143"/>
            </a:avLst>
          </a:prstGeom>
          <a:solidFill>
            <a:srgbClr val="EAF1F7"/>
          </a:solidFill>
          <a:ln/>
        </p:spPr>
      </p:sp>
      <p:sp>
        <p:nvSpPr>
          <p:cNvPr id="10" name="Text 8"/>
          <p:cNvSpPr/>
          <p:nvPr/>
        </p:nvSpPr>
        <p:spPr>
          <a:xfrm>
            <a:off x="658368" y="2350008"/>
            <a:ext cx="1005840" cy="512064"/>
          </a:xfrm>
          <a:prstGeom prst="rect">
            <a:avLst/>
          </a:prstGeom>
          <a:noFill/>
          <a:ln/>
        </p:spPr>
        <p:txBody>
          <a:bodyPr wrap="square" rtlCol="0" anchor="ctr">
            <a:normAutofit/>
          </a:bodyPr>
          <a:lstStyle/>
          <a:p>
            <a:pPr marL="0" indent="0" algn="ctr">
              <a:buNone/>
            </a:pPr>
            <a:endParaRPr lang="en-US" sz="1400" dirty="0"/>
          </a:p>
        </p:txBody>
      </p:sp>
      <p:sp>
        <p:nvSpPr>
          <p:cNvPr id="11" name="Text 9"/>
          <p:cNvSpPr/>
          <p:nvPr/>
        </p:nvSpPr>
        <p:spPr>
          <a:xfrm>
            <a:off x="1783080" y="2331720"/>
            <a:ext cx="2560320" cy="274320"/>
          </a:xfrm>
          <a:prstGeom prst="rect">
            <a:avLst/>
          </a:prstGeom>
          <a:noFill/>
          <a:ln/>
        </p:spPr>
        <p:txBody>
          <a:bodyPr wrap="square" rtlCol="0" anchor="ctr"/>
          <a:lstStyle/>
          <a:p>
            <a:pPr marL="0" indent="0" algn="l">
              <a:buNone/>
            </a:pPr>
            <a:r>
              <a:rPr lang="en-US" sz="1050" b="1" dirty="0">
                <a:solidFill>
                  <a:srgbClr val="1A2533"/>
                </a:solidFill>
                <a:latin typeface="Calibri" pitchFamily="34" charset="0"/>
                <a:ea typeface="Calibri" pitchFamily="34" charset="-122"/>
                <a:cs typeface="Calibri" pitchFamily="34" charset="-120"/>
              </a:rPr>
              <a:t>International Air Transport Association</a:t>
            </a:r>
            <a:endParaRPr lang="en-US" sz="1050" dirty="0"/>
          </a:p>
        </p:txBody>
      </p:sp>
      <p:sp>
        <p:nvSpPr>
          <p:cNvPr id="12" name="Text 10"/>
          <p:cNvSpPr/>
          <p:nvPr/>
        </p:nvSpPr>
        <p:spPr>
          <a:xfrm>
            <a:off x="1783080" y="2606040"/>
            <a:ext cx="2560320"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Global accreditation for travel agents.</a:t>
            </a:r>
            <a:endParaRPr lang="en-US" sz="950" dirty="0"/>
          </a:p>
        </p:txBody>
      </p:sp>
      <p:sp>
        <p:nvSpPr>
          <p:cNvPr id="13" name="Shape 11"/>
          <p:cNvSpPr/>
          <p:nvPr/>
        </p:nvSpPr>
        <p:spPr>
          <a:xfrm>
            <a:off x="548640" y="310896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4" name="Shape 12"/>
          <p:cNvSpPr/>
          <p:nvPr/>
        </p:nvSpPr>
        <p:spPr>
          <a:xfrm>
            <a:off x="658368" y="3218688"/>
            <a:ext cx="1005840" cy="512064"/>
          </a:xfrm>
          <a:prstGeom prst="roundRect">
            <a:avLst>
              <a:gd name="adj" fmla="val 7143"/>
            </a:avLst>
          </a:prstGeom>
          <a:solidFill>
            <a:srgbClr val="EAF1F7"/>
          </a:solidFill>
          <a:ln/>
        </p:spPr>
      </p:sp>
      <p:sp>
        <p:nvSpPr>
          <p:cNvPr id="15" name="Text 13"/>
          <p:cNvSpPr/>
          <p:nvPr/>
        </p:nvSpPr>
        <p:spPr>
          <a:xfrm>
            <a:off x="658368" y="3218688"/>
            <a:ext cx="1005840" cy="512064"/>
          </a:xfrm>
          <a:prstGeom prst="rect">
            <a:avLst/>
          </a:prstGeom>
          <a:noFill/>
          <a:ln/>
        </p:spPr>
        <p:txBody>
          <a:bodyPr wrap="square" rtlCol="0" anchor="ctr">
            <a:normAutofit/>
          </a:bodyPr>
          <a:lstStyle/>
          <a:p>
            <a:pPr marL="0" indent="0" algn="ctr">
              <a:buNone/>
            </a:pPr>
            <a:endParaRPr lang="en-US" sz="1400" dirty="0"/>
          </a:p>
        </p:txBody>
      </p:sp>
      <p:sp>
        <p:nvSpPr>
          <p:cNvPr id="16" name="Text 14"/>
          <p:cNvSpPr/>
          <p:nvPr/>
        </p:nvSpPr>
        <p:spPr>
          <a:xfrm>
            <a:off x="1783080" y="3200400"/>
            <a:ext cx="2560320" cy="274320"/>
          </a:xfrm>
          <a:prstGeom prst="rect">
            <a:avLst/>
          </a:prstGeom>
          <a:noFill/>
          <a:ln/>
        </p:spPr>
        <p:txBody>
          <a:bodyPr wrap="square" rtlCol="0" anchor="ctr"/>
          <a:lstStyle/>
          <a:p>
            <a:pPr marL="0" indent="0" algn="l">
              <a:buNone/>
            </a:pPr>
            <a:r>
              <a:rPr lang="en-US" sz="1050" b="1" dirty="0">
                <a:solidFill>
                  <a:srgbClr val="1A2533"/>
                </a:solidFill>
                <a:latin typeface="Calibri" pitchFamily="34" charset="0"/>
                <a:ea typeface="Calibri" pitchFamily="34" charset="-122"/>
                <a:cs typeface="Calibri" pitchFamily="34" charset="-120"/>
              </a:rPr>
              <a:t>Association of Travel Agents of Bangladesh</a:t>
            </a:r>
            <a:endParaRPr lang="en-US" sz="1050" dirty="0"/>
          </a:p>
        </p:txBody>
      </p:sp>
      <p:sp>
        <p:nvSpPr>
          <p:cNvPr id="17" name="Text 15"/>
          <p:cNvSpPr/>
          <p:nvPr/>
        </p:nvSpPr>
        <p:spPr>
          <a:xfrm>
            <a:off x="1783080" y="3474720"/>
            <a:ext cx="2560320"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National industry membership.</a:t>
            </a:r>
            <a:endParaRPr lang="en-US" sz="950" dirty="0"/>
          </a:p>
        </p:txBody>
      </p:sp>
      <p:sp>
        <p:nvSpPr>
          <p:cNvPr id="18" name="Shape 16"/>
          <p:cNvSpPr/>
          <p:nvPr/>
        </p:nvSpPr>
        <p:spPr>
          <a:xfrm>
            <a:off x="548640" y="397764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9" name="Shape 17"/>
          <p:cNvSpPr/>
          <p:nvPr/>
        </p:nvSpPr>
        <p:spPr>
          <a:xfrm>
            <a:off x="658368" y="4087368"/>
            <a:ext cx="1005840" cy="512064"/>
          </a:xfrm>
          <a:prstGeom prst="roundRect">
            <a:avLst>
              <a:gd name="adj" fmla="val 7143"/>
            </a:avLst>
          </a:prstGeom>
          <a:solidFill>
            <a:srgbClr val="EAF1F7"/>
          </a:solidFill>
          <a:ln/>
        </p:spPr>
      </p:sp>
      <p:sp>
        <p:nvSpPr>
          <p:cNvPr id="20" name="Text 18"/>
          <p:cNvSpPr/>
          <p:nvPr/>
        </p:nvSpPr>
        <p:spPr>
          <a:xfrm>
            <a:off x="658368" y="4087368"/>
            <a:ext cx="1005840" cy="512064"/>
          </a:xfrm>
          <a:prstGeom prst="rect">
            <a:avLst/>
          </a:prstGeom>
          <a:noFill/>
          <a:ln/>
        </p:spPr>
        <p:txBody>
          <a:bodyPr wrap="square" rtlCol="0" anchor="ctr">
            <a:normAutofit/>
          </a:bodyPr>
          <a:lstStyle/>
          <a:p>
            <a:pPr marL="0" indent="0" algn="ctr">
              <a:buNone/>
            </a:pPr>
            <a:endParaRPr lang="en-US" sz="1400" dirty="0"/>
          </a:p>
        </p:txBody>
      </p:sp>
      <p:sp>
        <p:nvSpPr>
          <p:cNvPr id="21" name="Text 19"/>
          <p:cNvSpPr/>
          <p:nvPr/>
        </p:nvSpPr>
        <p:spPr>
          <a:xfrm>
            <a:off x="1783080" y="4069080"/>
            <a:ext cx="2560320" cy="274320"/>
          </a:xfrm>
          <a:prstGeom prst="rect">
            <a:avLst/>
          </a:prstGeom>
          <a:noFill/>
          <a:ln/>
        </p:spPr>
        <p:txBody>
          <a:bodyPr wrap="square" rtlCol="0" anchor="ctr"/>
          <a:lstStyle/>
          <a:p>
            <a:pPr marL="0" indent="0" algn="l">
              <a:buNone/>
            </a:pPr>
            <a:r>
              <a:rPr lang="en-US" sz="1050" b="1" dirty="0">
                <a:solidFill>
                  <a:srgbClr val="1A2533"/>
                </a:solidFill>
                <a:latin typeface="Calibri" pitchFamily="34" charset="0"/>
                <a:ea typeface="Calibri" pitchFamily="34" charset="-122"/>
                <a:cs typeface="Calibri" pitchFamily="34" charset="-120"/>
              </a:rPr>
              <a:t>Tour Operators Association of Bangladesh</a:t>
            </a:r>
            <a:endParaRPr lang="en-US" sz="1050" dirty="0"/>
          </a:p>
        </p:txBody>
      </p:sp>
      <p:sp>
        <p:nvSpPr>
          <p:cNvPr id="22" name="Text 20"/>
          <p:cNvSpPr/>
          <p:nvPr/>
        </p:nvSpPr>
        <p:spPr>
          <a:xfrm>
            <a:off x="1783080" y="4343400"/>
            <a:ext cx="2560320"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Recognized tour operator status.</a:t>
            </a:r>
            <a:endParaRPr lang="en-US" sz="950" dirty="0"/>
          </a:p>
        </p:txBody>
      </p:sp>
      <p:sp>
        <p:nvSpPr>
          <p:cNvPr id="38" name="Shape 6">
            <a:extLst>
              <a:ext uri="{FF2B5EF4-FFF2-40B4-BE49-F238E27FC236}">
                <a16:creationId xmlns:a16="http://schemas.microsoft.com/office/drawing/2014/main" id="{8CF57DFD-ED83-5B15-D5DB-5C14875F6823}"/>
              </a:ext>
            </a:extLst>
          </p:cNvPr>
          <p:cNvSpPr/>
          <p:nvPr/>
        </p:nvSpPr>
        <p:spPr>
          <a:xfrm>
            <a:off x="4663442" y="224028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39" name="Shape 7">
            <a:extLst>
              <a:ext uri="{FF2B5EF4-FFF2-40B4-BE49-F238E27FC236}">
                <a16:creationId xmlns:a16="http://schemas.microsoft.com/office/drawing/2014/main" id="{A76612AC-3D77-F763-AD69-7DAF5C95A10E}"/>
              </a:ext>
            </a:extLst>
          </p:cNvPr>
          <p:cNvSpPr/>
          <p:nvPr/>
        </p:nvSpPr>
        <p:spPr>
          <a:xfrm>
            <a:off x="4773170" y="2350008"/>
            <a:ext cx="1005840" cy="512064"/>
          </a:xfrm>
          <a:prstGeom prst="roundRect">
            <a:avLst>
              <a:gd name="adj" fmla="val 7143"/>
            </a:avLst>
          </a:prstGeom>
          <a:solidFill>
            <a:srgbClr val="EAF1F7"/>
          </a:solidFill>
          <a:ln/>
        </p:spPr>
      </p:sp>
      <p:sp>
        <p:nvSpPr>
          <p:cNvPr id="40" name="Text 8">
            <a:extLst>
              <a:ext uri="{FF2B5EF4-FFF2-40B4-BE49-F238E27FC236}">
                <a16:creationId xmlns:a16="http://schemas.microsoft.com/office/drawing/2014/main" id="{03868B6C-5C58-DF24-00BE-BFFC4209FCAB}"/>
              </a:ext>
            </a:extLst>
          </p:cNvPr>
          <p:cNvSpPr/>
          <p:nvPr/>
        </p:nvSpPr>
        <p:spPr>
          <a:xfrm>
            <a:off x="4773170" y="2350008"/>
            <a:ext cx="1005840" cy="512064"/>
          </a:xfrm>
          <a:prstGeom prst="rect">
            <a:avLst/>
          </a:prstGeom>
          <a:noFill/>
          <a:ln/>
        </p:spPr>
        <p:txBody>
          <a:bodyPr wrap="square" rtlCol="0" anchor="ctr">
            <a:normAutofit/>
          </a:bodyPr>
          <a:lstStyle/>
          <a:p>
            <a:pPr marL="0" indent="0" algn="ctr">
              <a:buNone/>
            </a:pPr>
            <a:endParaRPr lang="en-US" sz="1400" dirty="0"/>
          </a:p>
        </p:txBody>
      </p:sp>
      <p:sp>
        <p:nvSpPr>
          <p:cNvPr id="41" name="Text 9">
            <a:extLst>
              <a:ext uri="{FF2B5EF4-FFF2-40B4-BE49-F238E27FC236}">
                <a16:creationId xmlns:a16="http://schemas.microsoft.com/office/drawing/2014/main" id="{BD780B38-071F-21CD-99AB-35169820184A}"/>
              </a:ext>
            </a:extLst>
          </p:cNvPr>
          <p:cNvSpPr/>
          <p:nvPr/>
        </p:nvSpPr>
        <p:spPr>
          <a:xfrm>
            <a:off x="5897882" y="2331720"/>
            <a:ext cx="2560320" cy="274320"/>
          </a:xfrm>
          <a:prstGeom prst="rect">
            <a:avLst/>
          </a:prstGeom>
          <a:noFill/>
          <a:ln/>
        </p:spPr>
        <p:txBody>
          <a:bodyPr wrap="square" rtlCol="0" anchor="ctr"/>
          <a:lstStyle/>
          <a:p>
            <a:r>
              <a:rPr lang="en-US" sz="1050" b="1" dirty="0">
                <a:solidFill>
                  <a:srgbClr val="1A2533"/>
                </a:solidFill>
                <a:latin typeface="Calibri" pitchFamily="34" charset="0"/>
                <a:ea typeface="Calibri" pitchFamily="34" charset="-122"/>
                <a:cs typeface="Calibri" pitchFamily="34" charset="-120"/>
              </a:rPr>
              <a:t>Ministry of Civil Aviation and Tourism</a:t>
            </a:r>
            <a:endParaRPr lang="en-US" sz="1050" dirty="0"/>
          </a:p>
        </p:txBody>
      </p:sp>
      <p:sp>
        <p:nvSpPr>
          <p:cNvPr id="42" name="Text 10">
            <a:extLst>
              <a:ext uri="{FF2B5EF4-FFF2-40B4-BE49-F238E27FC236}">
                <a16:creationId xmlns:a16="http://schemas.microsoft.com/office/drawing/2014/main" id="{233DF5E6-282E-EFC3-2935-AD031F642FAA}"/>
              </a:ext>
            </a:extLst>
          </p:cNvPr>
          <p:cNvSpPr/>
          <p:nvPr/>
        </p:nvSpPr>
        <p:spPr>
          <a:xfrm>
            <a:off x="5897882" y="2606040"/>
            <a:ext cx="2560320"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Uses the official National Emblem of Bangladesh</a:t>
            </a:r>
            <a:endParaRPr lang="en-US" sz="950" dirty="0"/>
          </a:p>
        </p:txBody>
      </p:sp>
      <p:sp>
        <p:nvSpPr>
          <p:cNvPr id="43" name="Shape 11">
            <a:extLst>
              <a:ext uri="{FF2B5EF4-FFF2-40B4-BE49-F238E27FC236}">
                <a16:creationId xmlns:a16="http://schemas.microsoft.com/office/drawing/2014/main" id="{02D6EDEE-413F-A7CA-E5BD-D5D0440C954F}"/>
              </a:ext>
            </a:extLst>
          </p:cNvPr>
          <p:cNvSpPr/>
          <p:nvPr/>
        </p:nvSpPr>
        <p:spPr>
          <a:xfrm>
            <a:off x="4663442" y="310896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44" name="Shape 12">
            <a:extLst>
              <a:ext uri="{FF2B5EF4-FFF2-40B4-BE49-F238E27FC236}">
                <a16:creationId xmlns:a16="http://schemas.microsoft.com/office/drawing/2014/main" id="{80A3BB2B-0E34-9027-D7B8-DA062CC590E5}"/>
              </a:ext>
            </a:extLst>
          </p:cNvPr>
          <p:cNvSpPr/>
          <p:nvPr/>
        </p:nvSpPr>
        <p:spPr>
          <a:xfrm>
            <a:off x="4773170" y="3218688"/>
            <a:ext cx="1005840" cy="512064"/>
          </a:xfrm>
          <a:prstGeom prst="roundRect">
            <a:avLst>
              <a:gd name="adj" fmla="val 7143"/>
            </a:avLst>
          </a:prstGeom>
          <a:solidFill>
            <a:srgbClr val="EAF1F7"/>
          </a:solidFill>
          <a:ln/>
        </p:spPr>
      </p:sp>
      <p:sp>
        <p:nvSpPr>
          <p:cNvPr id="45" name="Text 13">
            <a:extLst>
              <a:ext uri="{FF2B5EF4-FFF2-40B4-BE49-F238E27FC236}">
                <a16:creationId xmlns:a16="http://schemas.microsoft.com/office/drawing/2014/main" id="{293B8260-4F99-8B47-BC9E-C907A9917131}"/>
              </a:ext>
            </a:extLst>
          </p:cNvPr>
          <p:cNvSpPr/>
          <p:nvPr/>
        </p:nvSpPr>
        <p:spPr>
          <a:xfrm>
            <a:off x="4773170" y="3218688"/>
            <a:ext cx="1005840" cy="512064"/>
          </a:xfrm>
          <a:prstGeom prst="rect">
            <a:avLst/>
          </a:prstGeom>
          <a:noFill/>
          <a:ln/>
        </p:spPr>
        <p:txBody>
          <a:bodyPr wrap="square" rtlCol="0" anchor="ctr">
            <a:normAutofit/>
          </a:bodyPr>
          <a:lstStyle/>
          <a:p>
            <a:pPr marL="0" indent="0" algn="ctr">
              <a:buNone/>
            </a:pPr>
            <a:r>
              <a:rPr lang="en-US" sz="1400" b="1" dirty="0">
                <a:solidFill>
                  <a:srgbClr val="0E5C8A"/>
                </a:solidFill>
                <a:latin typeface="Cambria" pitchFamily="34" charset="0"/>
                <a:ea typeface="Cambria" pitchFamily="34" charset="-122"/>
                <a:cs typeface="Cambria" pitchFamily="34" charset="-120"/>
              </a:rPr>
              <a:t>E-TIN</a:t>
            </a:r>
            <a:endParaRPr lang="en-US" sz="1400" dirty="0"/>
          </a:p>
        </p:txBody>
      </p:sp>
      <p:sp>
        <p:nvSpPr>
          <p:cNvPr id="46" name="Text 14">
            <a:extLst>
              <a:ext uri="{FF2B5EF4-FFF2-40B4-BE49-F238E27FC236}">
                <a16:creationId xmlns:a16="http://schemas.microsoft.com/office/drawing/2014/main" id="{8D52C2B3-40C1-109C-23A6-8592E624366C}"/>
              </a:ext>
            </a:extLst>
          </p:cNvPr>
          <p:cNvSpPr/>
          <p:nvPr/>
        </p:nvSpPr>
        <p:spPr>
          <a:xfrm>
            <a:off x="5897882" y="3200400"/>
            <a:ext cx="2697480" cy="274320"/>
          </a:xfrm>
          <a:prstGeom prst="rect">
            <a:avLst/>
          </a:prstGeom>
          <a:noFill/>
          <a:ln/>
        </p:spPr>
        <p:txBody>
          <a:bodyPr wrap="square" rtlCol="0" anchor="ctr"/>
          <a:lstStyle/>
          <a:p>
            <a:pPr marL="0" indent="0" algn="l">
              <a:buNone/>
            </a:pPr>
            <a:r>
              <a:rPr lang="en-US" sz="1050" b="1" dirty="0">
                <a:solidFill>
                  <a:srgbClr val="1A2533"/>
                </a:solidFill>
                <a:latin typeface="Calibri" pitchFamily="34" charset="0"/>
                <a:ea typeface="Calibri" pitchFamily="34" charset="-122"/>
                <a:cs typeface="Calibri" pitchFamily="34" charset="-120"/>
              </a:rPr>
              <a:t>Electronic Taxpayer's Identification Number</a:t>
            </a:r>
            <a:endParaRPr lang="en-US" sz="1050" dirty="0"/>
          </a:p>
        </p:txBody>
      </p:sp>
      <p:sp>
        <p:nvSpPr>
          <p:cNvPr id="47" name="Text 15">
            <a:extLst>
              <a:ext uri="{FF2B5EF4-FFF2-40B4-BE49-F238E27FC236}">
                <a16:creationId xmlns:a16="http://schemas.microsoft.com/office/drawing/2014/main" id="{5BAF0992-84E3-08D7-0801-08A31DD84656}"/>
              </a:ext>
            </a:extLst>
          </p:cNvPr>
          <p:cNvSpPr/>
          <p:nvPr/>
        </p:nvSpPr>
        <p:spPr>
          <a:xfrm>
            <a:off x="5897882" y="3474720"/>
            <a:ext cx="2560320"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Issued and managed by the NBR</a:t>
            </a:r>
            <a:endParaRPr lang="en-US" sz="950" dirty="0"/>
          </a:p>
        </p:txBody>
      </p:sp>
      <p:sp>
        <p:nvSpPr>
          <p:cNvPr id="48" name="Shape 16">
            <a:extLst>
              <a:ext uri="{FF2B5EF4-FFF2-40B4-BE49-F238E27FC236}">
                <a16:creationId xmlns:a16="http://schemas.microsoft.com/office/drawing/2014/main" id="{FED177AD-5ADE-7F81-BD40-ED14FE49A357}"/>
              </a:ext>
            </a:extLst>
          </p:cNvPr>
          <p:cNvSpPr/>
          <p:nvPr/>
        </p:nvSpPr>
        <p:spPr>
          <a:xfrm>
            <a:off x="4663442" y="397764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49" name="Shape 17">
            <a:extLst>
              <a:ext uri="{FF2B5EF4-FFF2-40B4-BE49-F238E27FC236}">
                <a16:creationId xmlns:a16="http://schemas.microsoft.com/office/drawing/2014/main" id="{777F0636-9734-D55A-FFA8-336E08607246}"/>
              </a:ext>
            </a:extLst>
          </p:cNvPr>
          <p:cNvSpPr/>
          <p:nvPr/>
        </p:nvSpPr>
        <p:spPr>
          <a:xfrm>
            <a:off x="4773170" y="4087368"/>
            <a:ext cx="1005840" cy="512064"/>
          </a:xfrm>
          <a:prstGeom prst="roundRect">
            <a:avLst>
              <a:gd name="adj" fmla="val 7143"/>
            </a:avLst>
          </a:prstGeom>
          <a:solidFill>
            <a:srgbClr val="EAF1F7"/>
          </a:solidFill>
          <a:ln/>
        </p:spPr>
      </p:sp>
      <p:sp>
        <p:nvSpPr>
          <p:cNvPr id="50" name="Text 18">
            <a:extLst>
              <a:ext uri="{FF2B5EF4-FFF2-40B4-BE49-F238E27FC236}">
                <a16:creationId xmlns:a16="http://schemas.microsoft.com/office/drawing/2014/main" id="{0EDC6C1F-91C5-815E-B2B3-5039EDB76F1A}"/>
              </a:ext>
            </a:extLst>
          </p:cNvPr>
          <p:cNvSpPr/>
          <p:nvPr/>
        </p:nvSpPr>
        <p:spPr>
          <a:xfrm>
            <a:off x="4773170" y="4087368"/>
            <a:ext cx="1005840" cy="512064"/>
          </a:xfrm>
          <a:prstGeom prst="rect">
            <a:avLst/>
          </a:prstGeom>
          <a:noFill/>
          <a:ln/>
        </p:spPr>
        <p:txBody>
          <a:bodyPr wrap="square" rtlCol="0" anchor="ctr">
            <a:normAutofit lnSpcReduction="10000"/>
          </a:bodyPr>
          <a:lstStyle/>
          <a:p>
            <a:pPr marL="0" indent="0" algn="ctr">
              <a:buNone/>
            </a:pPr>
            <a:r>
              <a:rPr lang="en-US" sz="1400" b="1" dirty="0">
                <a:solidFill>
                  <a:srgbClr val="0E5C8A"/>
                </a:solidFill>
                <a:latin typeface="Cambria" pitchFamily="34" charset="0"/>
                <a:ea typeface="Cambria" pitchFamily="34" charset="-122"/>
                <a:cs typeface="Cambria" pitchFamily="34" charset="-120"/>
              </a:rPr>
              <a:t>Trade License</a:t>
            </a:r>
            <a:endParaRPr lang="en-US" sz="1400" dirty="0"/>
          </a:p>
        </p:txBody>
      </p:sp>
      <p:sp>
        <p:nvSpPr>
          <p:cNvPr id="51" name="Text 19">
            <a:extLst>
              <a:ext uri="{FF2B5EF4-FFF2-40B4-BE49-F238E27FC236}">
                <a16:creationId xmlns:a16="http://schemas.microsoft.com/office/drawing/2014/main" id="{6307821B-159D-D102-9190-26EEA0A47466}"/>
              </a:ext>
            </a:extLst>
          </p:cNvPr>
          <p:cNvSpPr/>
          <p:nvPr/>
        </p:nvSpPr>
        <p:spPr>
          <a:xfrm>
            <a:off x="5897882" y="4069080"/>
            <a:ext cx="2560320" cy="274320"/>
          </a:xfrm>
          <a:prstGeom prst="rect">
            <a:avLst/>
          </a:prstGeom>
          <a:noFill/>
          <a:ln/>
        </p:spPr>
        <p:txBody>
          <a:bodyPr wrap="square" rtlCol="0" anchor="ctr"/>
          <a:lstStyle/>
          <a:p>
            <a:pPr marL="0" indent="0" algn="l">
              <a:buNone/>
            </a:pPr>
            <a:r>
              <a:rPr lang="en-US" sz="1050" b="1" dirty="0">
                <a:solidFill>
                  <a:srgbClr val="1A2533"/>
                </a:solidFill>
                <a:latin typeface="Calibri" pitchFamily="34" charset="0"/>
                <a:ea typeface="Calibri" pitchFamily="34" charset="-122"/>
                <a:cs typeface="Calibri" pitchFamily="34" charset="-120"/>
              </a:rPr>
              <a:t>Trade License</a:t>
            </a:r>
            <a:endParaRPr lang="en-US" sz="1050" dirty="0"/>
          </a:p>
        </p:txBody>
      </p:sp>
      <p:sp>
        <p:nvSpPr>
          <p:cNvPr id="52" name="Text 20">
            <a:extLst>
              <a:ext uri="{FF2B5EF4-FFF2-40B4-BE49-F238E27FC236}">
                <a16:creationId xmlns:a16="http://schemas.microsoft.com/office/drawing/2014/main" id="{3E1E650D-D75D-7129-0144-13CF9B42621D}"/>
              </a:ext>
            </a:extLst>
          </p:cNvPr>
          <p:cNvSpPr/>
          <p:nvPr/>
        </p:nvSpPr>
        <p:spPr>
          <a:xfrm>
            <a:off x="5897882" y="4343400"/>
            <a:ext cx="2807208"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Trade license in Bangladesh is an official legal permit</a:t>
            </a:r>
            <a:endParaRPr lang="en-US" sz="950" dirty="0"/>
          </a:p>
        </p:txBody>
      </p:sp>
      <p:pic>
        <p:nvPicPr>
          <p:cNvPr id="53" name="Picture 2" descr="IATA Logo PNG Transparent &amp; SVG Vector - Freebie Supply">
            <a:extLst>
              <a:ext uri="{FF2B5EF4-FFF2-40B4-BE49-F238E27FC236}">
                <a16:creationId xmlns:a16="http://schemas.microsoft.com/office/drawing/2014/main" id="{0019A12C-3638-46FA-D045-96C8EA132CA7}"/>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46815" y="2417082"/>
            <a:ext cx="619128" cy="377916"/>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7CF2DE7A-55F2-BF9F-0ECA-BBECA86473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894" b="24357"/>
          <a:stretch>
            <a:fillRect/>
          </a:stretch>
        </p:blipFill>
        <p:spPr bwMode="auto">
          <a:xfrm>
            <a:off x="763359" y="3287485"/>
            <a:ext cx="836839" cy="37446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1B8A013C-5512-2043-E826-DC883E5165F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8041" b="24755"/>
          <a:stretch>
            <a:fillRect/>
          </a:stretch>
        </p:blipFill>
        <p:spPr bwMode="auto">
          <a:xfrm>
            <a:off x="752581" y="4166688"/>
            <a:ext cx="797154" cy="37628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0BFC01A7-CB8C-61D1-DAC3-6F76710B118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968" t="18113" r="15643" b="21176"/>
          <a:stretch>
            <a:fillRect/>
          </a:stretch>
        </p:blipFill>
        <p:spPr bwMode="auto">
          <a:xfrm>
            <a:off x="5022983" y="2380797"/>
            <a:ext cx="506213" cy="4169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a:extLst>
            <a:ext uri="{FF2B5EF4-FFF2-40B4-BE49-F238E27FC236}">
              <a16:creationId xmlns:a16="http://schemas.microsoft.com/office/drawing/2014/main" id="{D0D2C340-56F0-64D1-D7FB-90380E9445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9FC793-A3D6-7BD3-FD6E-A46782E0EA2C}"/>
              </a:ext>
            </a:extLst>
          </p:cNvPr>
          <p:cNvSpPr/>
          <p:nvPr/>
        </p:nvSpPr>
        <p:spPr>
          <a:xfrm>
            <a:off x="0" y="0"/>
            <a:ext cx="9144000" cy="1005840"/>
          </a:xfrm>
          <a:prstGeom prst="rect">
            <a:avLst/>
          </a:prstGeom>
          <a:solidFill>
            <a:srgbClr val="0A2540"/>
          </a:solidFill>
          <a:ln/>
        </p:spPr>
      </p:sp>
      <p:sp>
        <p:nvSpPr>
          <p:cNvPr id="3" name="Shape 1">
            <a:extLst>
              <a:ext uri="{FF2B5EF4-FFF2-40B4-BE49-F238E27FC236}">
                <a16:creationId xmlns:a16="http://schemas.microsoft.com/office/drawing/2014/main" id="{4C7FEA6F-A7A6-D71E-D13B-48EA0B5F1823}"/>
              </a:ext>
            </a:extLst>
          </p:cNvPr>
          <p:cNvSpPr/>
          <p:nvPr/>
        </p:nvSpPr>
        <p:spPr>
          <a:xfrm>
            <a:off x="0" y="1005840"/>
            <a:ext cx="9144000" cy="36576"/>
          </a:xfrm>
          <a:prstGeom prst="rect">
            <a:avLst/>
          </a:prstGeom>
          <a:solidFill>
            <a:srgbClr val="D4A537"/>
          </a:solidFill>
          <a:ln/>
        </p:spPr>
      </p:sp>
      <p:sp>
        <p:nvSpPr>
          <p:cNvPr id="4" name="Text 2">
            <a:extLst>
              <a:ext uri="{FF2B5EF4-FFF2-40B4-BE49-F238E27FC236}">
                <a16:creationId xmlns:a16="http://schemas.microsoft.com/office/drawing/2014/main" id="{DDEC99FA-CD13-9964-22AD-D4EE487F61A1}"/>
              </a:ext>
            </a:extLst>
          </p:cNvPr>
          <p:cNvSpPr/>
          <p:nvPr/>
        </p:nvSpPr>
        <p:spPr>
          <a:xfrm>
            <a:off x="548640" y="274320"/>
            <a:ext cx="8046720" cy="411480"/>
          </a:xfrm>
          <a:prstGeom prst="rect">
            <a:avLst/>
          </a:prstGeom>
          <a:noFill/>
          <a:ln/>
        </p:spPr>
        <p:txBody>
          <a:bodyPr wrap="square" rtlCol="0" anchor="ctr">
            <a:normAutofit fontScale="92500" lnSpcReduction="20000"/>
          </a:bodyPr>
          <a:lstStyle/>
          <a:p>
            <a:pPr marL="0" indent="0">
              <a:buNone/>
            </a:pPr>
            <a:r>
              <a:rPr lang="en-US" sz="2600" b="1" kern="0" spc="400" dirty="0">
                <a:solidFill>
                  <a:srgbClr val="FFFFFF"/>
                </a:solidFill>
                <a:latin typeface="Cambria" pitchFamily="34" charset="0"/>
                <a:ea typeface="Cambria" pitchFamily="34" charset="-122"/>
                <a:cs typeface="Cambria" pitchFamily="34" charset="-120"/>
              </a:rPr>
              <a:t>CERTIFICATIONS &amp; LEADERSHIP</a:t>
            </a:r>
            <a:endParaRPr lang="en-US" sz="2600" dirty="0"/>
          </a:p>
        </p:txBody>
      </p:sp>
      <p:sp>
        <p:nvSpPr>
          <p:cNvPr id="5" name="Text 3">
            <a:extLst>
              <a:ext uri="{FF2B5EF4-FFF2-40B4-BE49-F238E27FC236}">
                <a16:creationId xmlns:a16="http://schemas.microsoft.com/office/drawing/2014/main" id="{927A0E73-812B-1C1B-6350-514F767B8731}"/>
              </a:ext>
            </a:extLst>
          </p:cNvPr>
          <p:cNvSpPr/>
          <p:nvPr/>
        </p:nvSpPr>
        <p:spPr>
          <a:xfrm>
            <a:off x="548640" y="749808"/>
            <a:ext cx="7315200" cy="228600"/>
          </a:xfrm>
          <a:prstGeom prst="rect">
            <a:avLst/>
          </a:prstGeom>
          <a:noFill/>
          <a:ln/>
        </p:spPr>
        <p:txBody>
          <a:bodyPr wrap="square" rtlCol="0" anchor="ctr"/>
          <a:lstStyle/>
          <a:p>
            <a:pPr marL="0" indent="0">
              <a:buNone/>
            </a:pPr>
            <a:r>
              <a:rPr lang="en-US" sz="1000" kern="0" spc="600" dirty="0">
                <a:solidFill>
                  <a:srgbClr val="D4A537"/>
                </a:solidFill>
                <a:latin typeface="Calibri" pitchFamily="34" charset="0"/>
                <a:ea typeface="Calibri" pitchFamily="34" charset="-122"/>
                <a:cs typeface="Calibri" pitchFamily="34" charset="-120"/>
              </a:rPr>
              <a:t>STANDARDS &amp; STEWARDSHIP</a:t>
            </a:r>
            <a:endParaRPr lang="en-US" sz="1000" dirty="0"/>
          </a:p>
        </p:txBody>
      </p:sp>
      <p:sp>
        <p:nvSpPr>
          <p:cNvPr id="6" name="Text 4">
            <a:extLst>
              <a:ext uri="{FF2B5EF4-FFF2-40B4-BE49-F238E27FC236}">
                <a16:creationId xmlns:a16="http://schemas.microsoft.com/office/drawing/2014/main" id="{2D5576AA-25AE-8E8D-2393-0D19849D8965}"/>
              </a:ext>
            </a:extLst>
          </p:cNvPr>
          <p:cNvSpPr/>
          <p:nvPr/>
        </p:nvSpPr>
        <p:spPr>
          <a:xfrm>
            <a:off x="548640" y="1234440"/>
            <a:ext cx="3931920" cy="320040"/>
          </a:xfrm>
          <a:prstGeom prst="rect">
            <a:avLst/>
          </a:prstGeom>
          <a:noFill/>
          <a:ln/>
        </p:spPr>
        <p:txBody>
          <a:bodyPr wrap="square" rtlCol="0" anchor="ctr"/>
          <a:lstStyle/>
          <a:p>
            <a:pPr marL="0" indent="0" algn="l">
              <a:buNone/>
            </a:pPr>
            <a:r>
              <a:rPr lang="en-US" sz="1600" b="1" dirty="0">
                <a:solidFill>
                  <a:srgbClr val="1A8FB5"/>
                </a:solidFill>
                <a:latin typeface="Cambria" pitchFamily="34" charset="0"/>
                <a:ea typeface="Cambria" pitchFamily="34" charset="-122"/>
                <a:cs typeface="Cambria" pitchFamily="34" charset="-120"/>
              </a:rPr>
              <a:t>Industry Certifications</a:t>
            </a:r>
            <a:endParaRPr lang="en-US" sz="1600" dirty="0"/>
          </a:p>
        </p:txBody>
      </p:sp>
      <p:sp>
        <p:nvSpPr>
          <p:cNvPr id="7" name="Text 5">
            <a:extLst>
              <a:ext uri="{FF2B5EF4-FFF2-40B4-BE49-F238E27FC236}">
                <a16:creationId xmlns:a16="http://schemas.microsoft.com/office/drawing/2014/main" id="{563D24ED-E85B-4779-6EB0-A524C0D85A3B}"/>
              </a:ext>
            </a:extLst>
          </p:cNvPr>
          <p:cNvSpPr/>
          <p:nvPr/>
        </p:nvSpPr>
        <p:spPr>
          <a:xfrm>
            <a:off x="548640" y="1600200"/>
            <a:ext cx="3931920" cy="502920"/>
          </a:xfrm>
          <a:prstGeom prst="rect">
            <a:avLst/>
          </a:prstGeom>
          <a:noFill/>
          <a:ln/>
        </p:spPr>
        <p:txBody>
          <a:bodyPr wrap="square" rtlCol="0" anchor="t">
            <a:normAutofit fontScale="92500" lnSpcReduction="10000"/>
          </a:bodyPr>
          <a:lstStyle/>
          <a:p>
            <a:pPr marL="0" indent="0" algn="l">
              <a:buNone/>
            </a:pPr>
            <a:r>
              <a:rPr lang="en-US" sz="1050" dirty="0">
                <a:solidFill>
                  <a:srgbClr val="1A2533"/>
                </a:solidFill>
                <a:latin typeface="Calibri" pitchFamily="34" charset="0"/>
                <a:ea typeface="Calibri" pitchFamily="34" charset="-122"/>
                <a:cs typeface="Calibri" pitchFamily="34" charset="-120"/>
              </a:rPr>
              <a:t>Our accreditations reflect commitment to professional standards, ethical business practices, and recognized quality in the Bangladesh travel industry.</a:t>
            </a:r>
            <a:endParaRPr lang="en-US" sz="1050" dirty="0"/>
          </a:p>
        </p:txBody>
      </p:sp>
      <p:sp>
        <p:nvSpPr>
          <p:cNvPr id="8" name="Shape 6">
            <a:extLst>
              <a:ext uri="{FF2B5EF4-FFF2-40B4-BE49-F238E27FC236}">
                <a16:creationId xmlns:a16="http://schemas.microsoft.com/office/drawing/2014/main" id="{34095988-05FA-7895-676A-7982C28B5B83}"/>
              </a:ext>
            </a:extLst>
          </p:cNvPr>
          <p:cNvSpPr/>
          <p:nvPr/>
        </p:nvSpPr>
        <p:spPr>
          <a:xfrm>
            <a:off x="548640" y="224028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9" name="Shape 7">
            <a:extLst>
              <a:ext uri="{FF2B5EF4-FFF2-40B4-BE49-F238E27FC236}">
                <a16:creationId xmlns:a16="http://schemas.microsoft.com/office/drawing/2014/main" id="{52BDDCA7-C6EB-BAB9-0D4C-34EB7FCFF53B}"/>
              </a:ext>
            </a:extLst>
          </p:cNvPr>
          <p:cNvSpPr/>
          <p:nvPr/>
        </p:nvSpPr>
        <p:spPr>
          <a:xfrm>
            <a:off x="658368" y="2350008"/>
            <a:ext cx="1005840" cy="512064"/>
          </a:xfrm>
          <a:prstGeom prst="roundRect">
            <a:avLst>
              <a:gd name="adj" fmla="val 7143"/>
            </a:avLst>
          </a:prstGeom>
          <a:solidFill>
            <a:srgbClr val="EAF1F7"/>
          </a:solidFill>
          <a:ln/>
        </p:spPr>
      </p:sp>
      <p:sp>
        <p:nvSpPr>
          <p:cNvPr id="10" name="Text 8">
            <a:extLst>
              <a:ext uri="{FF2B5EF4-FFF2-40B4-BE49-F238E27FC236}">
                <a16:creationId xmlns:a16="http://schemas.microsoft.com/office/drawing/2014/main" id="{4DD0A60F-BDA3-CE7F-C776-E5E6F6172CD0}"/>
              </a:ext>
            </a:extLst>
          </p:cNvPr>
          <p:cNvSpPr/>
          <p:nvPr/>
        </p:nvSpPr>
        <p:spPr>
          <a:xfrm>
            <a:off x="658368" y="2350008"/>
            <a:ext cx="1005840" cy="512064"/>
          </a:xfrm>
          <a:prstGeom prst="rect">
            <a:avLst/>
          </a:prstGeom>
          <a:noFill/>
          <a:ln/>
        </p:spPr>
        <p:txBody>
          <a:bodyPr wrap="square" rtlCol="0" anchor="ctr">
            <a:normAutofit/>
          </a:bodyPr>
          <a:lstStyle/>
          <a:p>
            <a:pPr marL="0" indent="0" algn="ctr">
              <a:buNone/>
            </a:pPr>
            <a:r>
              <a:rPr lang="en-US" sz="1400" b="1" dirty="0">
                <a:solidFill>
                  <a:srgbClr val="0E5C8A"/>
                </a:solidFill>
                <a:latin typeface="Cambria" pitchFamily="34" charset="0"/>
                <a:ea typeface="Cambria" pitchFamily="34" charset="-122"/>
                <a:cs typeface="Cambria" pitchFamily="34" charset="-120"/>
              </a:rPr>
              <a:t>IATA</a:t>
            </a:r>
            <a:endParaRPr lang="en-US" sz="1400" dirty="0"/>
          </a:p>
        </p:txBody>
      </p:sp>
      <p:sp>
        <p:nvSpPr>
          <p:cNvPr id="11" name="Text 9">
            <a:extLst>
              <a:ext uri="{FF2B5EF4-FFF2-40B4-BE49-F238E27FC236}">
                <a16:creationId xmlns:a16="http://schemas.microsoft.com/office/drawing/2014/main" id="{C7D3F434-D540-D217-0380-EA8471F09B75}"/>
              </a:ext>
            </a:extLst>
          </p:cNvPr>
          <p:cNvSpPr/>
          <p:nvPr/>
        </p:nvSpPr>
        <p:spPr>
          <a:xfrm>
            <a:off x="1783080" y="2331720"/>
            <a:ext cx="2560320" cy="274320"/>
          </a:xfrm>
          <a:prstGeom prst="rect">
            <a:avLst/>
          </a:prstGeom>
          <a:noFill/>
          <a:ln/>
        </p:spPr>
        <p:txBody>
          <a:bodyPr wrap="square" rtlCol="0" anchor="ctr"/>
          <a:lstStyle/>
          <a:p>
            <a:pPr marL="0" indent="0" algn="l">
              <a:buNone/>
            </a:pPr>
            <a:r>
              <a:rPr lang="en-US" sz="1050" b="1" dirty="0">
                <a:solidFill>
                  <a:srgbClr val="1A2533"/>
                </a:solidFill>
                <a:latin typeface="Calibri" pitchFamily="34" charset="0"/>
                <a:ea typeface="Calibri" pitchFamily="34" charset="-122"/>
                <a:cs typeface="Calibri" pitchFamily="34" charset="-120"/>
              </a:rPr>
              <a:t>International Air Transport Association</a:t>
            </a:r>
            <a:endParaRPr lang="en-US" sz="1050" dirty="0"/>
          </a:p>
        </p:txBody>
      </p:sp>
      <p:sp>
        <p:nvSpPr>
          <p:cNvPr id="12" name="Text 10">
            <a:extLst>
              <a:ext uri="{FF2B5EF4-FFF2-40B4-BE49-F238E27FC236}">
                <a16:creationId xmlns:a16="http://schemas.microsoft.com/office/drawing/2014/main" id="{C36054E1-8815-787F-ADB1-9DC9C6B4776F}"/>
              </a:ext>
            </a:extLst>
          </p:cNvPr>
          <p:cNvSpPr/>
          <p:nvPr/>
        </p:nvSpPr>
        <p:spPr>
          <a:xfrm>
            <a:off x="1783080" y="2606040"/>
            <a:ext cx="2560320"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Global accreditation for travel agents.</a:t>
            </a:r>
            <a:endParaRPr lang="en-US" sz="950" dirty="0"/>
          </a:p>
        </p:txBody>
      </p:sp>
      <p:sp>
        <p:nvSpPr>
          <p:cNvPr id="13" name="Shape 11">
            <a:extLst>
              <a:ext uri="{FF2B5EF4-FFF2-40B4-BE49-F238E27FC236}">
                <a16:creationId xmlns:a16="http://schemas.microsoft.com/office/drawing/2014/main" id="{D09C1836-C729-AAC9-8AA2-C5B882A8F6E1}"/>
              </a:ext>
            </a:extLst>
          </p:cNvPr>
          <p:cNvSpPr/>
          <p:nvPr/>
        </p:nvSpPr>
        <p:spPr>
          <a:xfrm>
            <a:off x="548640" y="310896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4" name="Shape 12">
            <a:extLst>
              <a:ext uri="{FF2B5EF4-FFF2-40B4-BE49-F238E27FC236}">
                <a16:creationId xmlns:a16="http://schemas.microsoft.com/office/drawing/2014/main" id="{756648AF-A6EF-2919-9E3A-6B716375E898}"/>
              </a:ext>
            </a:extLst>
          </p:cNvPr>
          <p:cNvSpPr/>
          <p:nvPr/>
        </p:nvSpPr>
        <p:spPr>
          <a:xfrm>
            <a:off x="658368" y="3218688"/>
            <a:ext cx="1005840" cy="512064"/>
          </a:xfrm>
          <a:prstGeom prst="roundRect">
            <a:avLst>
              <a:gd name="adj" fmla="val 7143"/>
            </a:avLst>
          </a:prstGeom>
          <a:solidFill>
            <a:srgbClr val="EAF1F7"/>
          </a:solidFill>
          <a:ln/>
        </p:spPr>
      </p:sp>
      <p:sp>
        <p:nvSpPr>
          <p:cNvPr id="15" name="Text 13">
            <a:extLst>
              <a:ext uri="{FF2B5EF4-FFF2-40B4-BE49-F238E27FC236}">
                <a16:creationId xmlns:a16="http://schemas.microsoft.com/office/drawing/2014/main" id="{57066EA1-B94B-4A48-B291-20BF1B7826E1}"/>
              </a:ext>
            </a:extLst>
          </p:cNvPr>
          <p:cNvSpPr/>
          <p:nvPr/>
        </p:nvSpPr>
        <p:spPr>
          <a:xfrm>
            <a:off x="658368" y="3218688"/>
            <a:ext cx="1005840" cy="512064"/>
          </a:xfrm>
          <a:prstGeom prst="rect">
            <a:avLst/>
          </a:prstGeom>
          <a:noFill/>
          <a:ln/>
        </p:spPr>
        <p:txBody>
          <a:bodyPr wrap="square" rtlCol="0" anchor="ctr">
            <a:normAutofit/>
          </a:bodyPr>
          <a:lstStyle/>
          <a:p>
            <a:pPr marL="0" indent="0" algn="ctr">
              <a:buNone/>
            </a:pPr>
            <a:r>
              <a:rPr lang="en-US" sz="1400" b="1" dirty="0">
                <a:solidFill>
                  <a:srgbClr val="0E5C8A"/>
                </a:solidFill>
                <a:latin typeface="Cambria" pitchFamily="34" charset="0"/>
                <a:ea typeface="Cambria" pitchFamily="34" charset="-122"/>
                <a:cs typeface="Cambria" pitchFamily="34" charset="-120"/>
              </a:rPr>
              <a:t>ATAB</a:t>
            </a:r>
            <a:endParaRPr lang="en-US" sz="1400" dirty="0"/>
          </a:p>
        </p:txBody>
      </p:sp>
      <p:sp>
        <p:nvSpPr>
          <p:cNvPr id="16" name="Text 14">
            <a:extLst>
              <a:ext uri="{FF2B5EF4-FFF2-40B4-BE49-F238E27FC236}">
                <a16:creationId xmlns:a16="http://schemas.microsoft.com/office/drawing/2014/main" id="{ACC384EB-F4A0-32FD-B202-B8A85EFE031D}"/>
              </a:ext>
            </a:extLst>
          </p:cNvPr>
          <p:cNvSpPr/>
          <p:nvPr/>
        </p:nvSpPr>
        <p:spPr>
          <a:xfrm>
            <a:off x="1783080" y="3200400"/>
            <a:ext cx="2560320" cy="274320"/>
          </a:xfrm>
          <a:prstGeom prst="rect">
            <a:avLst/>
          </a:prstGeom>
          <a:noFill/>
          <a:ln/>
        </p:spPr>
        <p:txBody>
          <a:bodyPr wrap="square" rtlCol="0" anchor="ctr"/>
          <a:lstStyle/>
          <a:p>
            <a:pPr marL="0" indent="0" algn="l">
              <a:buNone/>
            </a:pPr>
            <a:r>
              <a:rPr lang="en-US" sz="1050" b="1" dirty="0">
                <a:solidFill>
                  <a:srgbClr val="1A2533"/>
                </a:solidFill>
                <a:latin typeface="Calibri" pitchFamily="34" charset="0"/>
                <a:ea typeface="Calibri" pitchFamily="34" charset="-122"/>
                <a:cs typeface="Calibri" pitchFamily="34" charset="-120"/>
              </a:rPr>
              <a:t>Association of Travel Agents of Bangladesh</a:t>
            </a:r>
            <a:endParaRPr lang="en-US" sz="1050" dirty="0"/>
          </a:p>
        </p:txBody>
      </p:sp>
      <p:sp>
        <p:nvSpPr>
          <p:cNvPr id="17" name="Text 15">
            <a:extLst>
              <a:ext uri="{FF2B5EF4-FFF2-40B4-BE49-F238E27FC236}">
                <a16:creationId xmlns:a16="http://schemas.microsoft.com/office/drawing/2014/main" id="{6FCD503C-F7E5-D369-BADF-8FF93793FBB0}"/>
              </a:ext>
            </a:extLst>
          </p:cNvPr>
          <p:cNvSpPr/>
          <p:nvPr/>
        </p:nvSpPr>
        <p:spPr>
          <a:xfrm>
            <a:off x="1783080" y="3474720"/>
            <a:ext cx="2560320"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National industry membership.</a:t>
            </a:r>
            <a:endParaRPr lang="en-US" sz="950" dirty="0"/>
          </a:p>
        </p:txBody>
      </p:sp>
      <p:sp>
        <p:nvSpPr>
          <p:cNvPr id="18" name="Shape 16">
            <a:extLst>
              <a:ext uri="{FF2B5EF4-FFF2-40B4-BE49-F238E27FC236}">
                <a16:creationId xmlns:a16="http://schemas.microsoft.com/office/drawing/2014/main" id="{15ED5865-36DD-BF46-77CC-15F9CDF56727}"/>
              </a:ext>
            </a:extLst>
          </p:cNvPr>
          <p:cNvSpPr/>
          <p:nvPr/>
        </p:nvSpPr>
        <p:spPr>
          <a:xfrm>
            <a:off x="548640" y="3977640"/>
            <a:ext cx="3931920" cy="731520"/>
          </a:xfrm>
          <a:prstGeom prst="roundRect">
            <a:avLst>
              <a:gd name="adj" fmla="val 75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19" name="Shape 17">
            <a:extLst>
              <a:ext uri="{FF2B5EF4-FFF2-40B4-BE49-F238E27FC236}">
                <a16:creationId xmlns:a16="http://schemas.microsoft.com/office/drawing/2014/main" id="{1D9F2059-4053-72CA-6693-21BEAA7716F6}"/>
              </a:ext>
            </a:extLst>
          </p:cNvPr>
          <p:cNvSpPr/>
          <p:nvPr/>
        </p:nvSpPr>
        <p:spPr>
          <a:xfrm>
            <a:off x="658368" y="4087368"/>
            <a:ext cx="1005840" cy="512064"/>
          </a:xfrm>
          <a:prstGeom prst="roundRect">
            <a:avLst>
              <a:gd name="adj" fmla="val 7143"/>
            </a:avLst>
          </a:prstGeom>
          <a:solidFill>
            <a:srgbClr val="EAF1F7"/>
          </a:solidFill>
          <a:ln/>
        </p:spPr>
      </p:sp>
      <p:sp>
        <p:nvSpPr>
          <p:cNvPr id="20" name="Text 18">
            <a:extLst>
              <a:ext uri="{FF2B5EF4-FFF2-40B4-BE49-F238E27FC236}">
                <a16:creationId xmlns:a16="http://schemas.microsoft.com/office/drawing/2014/main" id="{1CCCF93E-110F-21E2-A283-86F2A4A08C0F}"/>
              </a:ext>
            </a:extLst>
          </p:cNvPr>
          <p:cNvSpPr/>
          <p:nvPr/>
        </p:nvSpPr>
        <p:spPr>
          <a:xfrm>
            <a:off x="658368" y="4087368"/>
            <a:ext cx="1005840" cy="512064"/>
          </a:xfrm>
          <a:prstGeom prst="rect">
            <a:avLst/>
          </a:prstGeom>
          <a:noFill/>
          <a:ln/>
        </p:spPr>
        <p:txBody>
          <a:bodyPr wrap="square" rtlCol="0" anchor="ctr">
            <a:normAutofit/>
          </a:bodyPr>
          <a:lstStyle/>
          <a:p>
            <a:pPr marL="0" indent="0" algn="ctr">
              <a:buNone/>
            </a:pPr>
            <a:r>
              <a:rPr lang="en-US" sz="1400" b="1" dirty="0">
                <a:solidFill>
                  <a:srgbClr val="0E5C8A"/>
                </a:solidFill>
                <a:latin typeface="Cambria" pitchFamily="34" charset="0"/>
                <a:ea typeface="Cambria" pitchFamily="34" charset="-122"/>
                <a:cs typeface="Cambria" pitchFamily="34" charset="-120"/>
              </a:rPr>
              <a:t>TOAB</a:t>
            </a:r>
            <a:endParaRPr lang="en-US" sz="1400" dirty="0"/>
          </a:p>
        </p:txBody>
      </p:sp>
      <p:sp>
        <p:nvSpPr>
          <p:cNvPr id="21" name="Text 19">
            <a:extLst>
              <a:ext uri="{FF2B5EF4-FFF2-40B4-BE49-F238E27FC236}">
                <a16:creationId xmlns:a16="http://schemas.microsoft.com/office/drawing/2014/main" id="{0DEECBB4-A936-A60E-66C5-46B866DBD5A2}"/>
              </a:ext>
            </a:extLst>
          </p:cNvPr>
          <p:cNvSpPr/>
          <p:nvPr/>
        </p:nvSpPr>
        <p:spPr>
          <a:xfrm>
            <a:off x="1783080" y="4069080"/>
            <a:ext cx="2560320" cy="274320"/>
          </a:xfrm>
          <a:prstGeom prst="rect">
            <a:avLst/>
          </a:prstGeom>
          <a:noFill/>
          <a:ln/>
        </p:spPr>
        <p:txBody>
          <a:bodyPr wrap="square" rtlCol="0" anchor="ctr"/>
          <a:lstStyle/>
          <a:p>
            <a:pPr marL="0" indent="0" algn="l">
              <a:buNone/>
            </a:pPr>
            <a:r>
              <a:rPr lang="en-US" sz="1050" b="1" dirty="0">
                <a:solidFill>
                  <a:srgbClr val="1A2533"/>
                </a:solidFill>
                <a:latin typeface="Calibri" pitchFamily="34" charset="0"/>
                <a:ea typeface="Calibri" pitchFamily="34" charset="-122"/>
                <a:cs typeface="Calibri" pitchFamily="34" charset="-120"/>
              </a:rPr>
              <a:t>Tour Operators Association of Bangladesh</a:t>
            </a:r>
            <a:endParaRPr lang="en-US" sz="1050" dirty="0"/>
          </a:p>
        </p:txBody>
      </p:sp>
      <p:sp>
        <p:nvSpPr>
          <p:cNvPr id="22" name="Text 20">
            <a:extLst>
              <a:ext uri="{FF2B5EF4-FFF2-40B4-BE49-F238E27FC236}">
                <a16:creationId xmlns:a16="http://schemas.microsoft.com/office/drawing/2014/main" id="{86D61F48-B228-A95B-FF49-E3E23725014D}"/>
              </a:ext>
            </a:extLst>
          </p:cNvPr>
          <p:cNvSpPr/>
          <p:nvPr/>
        </p:nvSpPr>
        <p:spPr>
          <a:xfrm>
            <a:off x="1783080" y="4343400"/>
            <a:ext cx="2560320" cy="32004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Recognized tour operator status.</a:t>
            </a:r>
            <a:endParaRPr lang="en-US" sz="950" dirty="0"/>
          </a:p>
        </p:txBody>
      </p:sp>
      <p:sp>
        <p:nvSpPr>
          <p:cNvPr id="23" name="Text 21">
            <a:extLst>
              <a:ext uri="{FF2B5EF4-FFF2-40B4-BE49-F238E27FC236}">
                <a16:creationId xmlns:a16="http://schemas.microsoft.com/office/drawing/2014/main" id="{8B836757-0E57-C619-B18B-BAFB961A8A5E}"/>
              </a:ext>
            </a:extLst>
          </p:cNvPr>
          <p:cNvSpPr/>
          <p:nvPr/>
        </p:nvSpPr>
        <p:spPr>
          <a:xfrm>
            <a:off x="4663440" y="1234440"/>
            <a:ext cx="3931920" cy="320040"/>
          </a:xfrm>
          <a:prstGeom prst="rect">
            <a:avLst/>
          </a:prstGeom>
          <a:noFill/>
          <a:ln/>
        </p:spPr>
        <p:txBody>
          <a:bodyPr wrap="square" rtlCol="0" anchor="ctr"/>
          <a:lstStyle/>
          <a:p>
            <a:pPr marL="0" indent="0" algn="l">
              <a:buNone/>
            </a:pPr>
            <a:r>
              <a:rPr lang="en-US" sz="1600" b="1" dirty="0">
                <a:solidFill>
                  <a:srgbClr val="1A8FB5"/>
                </a:solidFill>
                <a:latin typeface="Cambria" pitchFamily="34" charset="0"/>
                <a:ea typeface="Cambria" pitchFamily="34" charset="-122"/>
                <a:cs typeface="Cambria" pitchFamily="34" charset="-120"/>
              </a:rPr>
              <a:t>Our Leadership</a:t>
            </a:r>
            <a:endParaRPr lang="en-US" sz="1600" dirty="0"/>
          </a:p>
        </p:txBody>
      </p:sp>
      <p:sp>
        <p:nvSpPr>
          <p:cNvPr id="24" name="Text 22">
            <a:extLst>
              <a:ext uri="{FF2B5EF4-FFF2-40B4-BE49-F238E27FC236}">
                <a16:creationId xmlns:a16="http://schemas.microsoft.com/office/drawing/2014/main" id="{FAE0A0B3-C90D-57C0-8D99-1633E5AD405E}"/>
              </a:ext>
            </a:extLst>
          </p:cNvPr>
          <p:cNvSpPr/>
          <p:nvPr/>
        </p:nvSpPr>
        <p:spPr>
          <a:xfrm>
            <a:off x="4663440" y="1600200"/>
            <a:ext cx="3931920" cy="502920"/>
          </a:xfrm>
          <a:prstGeom prst="rect">
            <a:avLst/>
          </a:prstGeom>
          <a:noFill/>
          <a:ln/>
        </p:spPr>
        <p:txBody>
          <a:bodyPr wrap="square" rtlCol="0" anchor="t">
            <a:normAutofit/>
          </a:bodyPr>
          <a:lstStyle/>
          <a:p>
            <a:pPr marL="0" indent="0" algn="l">
              <a:buNone/>
            </a:pPr>
            <a:r>
              <a:rPr lang="en-US" sz="1050" dirty="0">
                <a:solidFill>
                  <a:srgbClr val="1A2533"/>
                </a:solidFill>
                <a:latin typeface="Calibri" pitchFamily="34" charset="0"/>
                <a:ea typeface="Calibri" pitchFamily="34" charset="-122"/>
                <a:cs typeface="Calibri" pitchFamily="34" charset="-120"/>
              </a:rPr>
              <a:t>Experienced stewardship guiding strategy, operations, and client relationships.</a:t>
            </a:r>
            <a:endParaRPr lang="en-US" sz="1050" dirty="0"/>
          </a:p>
        </p:txBody>
      </p:sp>
      <p:sp>
        <p:nvSpPr>
          <p:cNvPr id="25" name="Shape 23">
            <a:extLst>
              <a:ext uri="{FF2B5EF4-FFF2-40B4-BE49-F238E27FC236}">
                <a16:creationId xmlns:a16="http://schemas.microsoft.com/office/drawing/2014/main" id="{CDFB1DB7-C4AC-42F2-6D98-B3A01AF6E031}"/>
              </a:ext>
            </a:extLst>
          </p:cNvPr>
          <p:cNvSpPr/>
          <p:nvPr/>
        </p:nvSpPr>
        <p:spPr>
          <a:xfrm>
            <a:off x="4663440" y="2240280"/>
            <a:ext cx="3931920" cy="1097280"/>
          </a:xfrm>
          <a:prstGeom prst="roundRect">
            <a:avLst>
              <a:gd name="adj" fmla="val 50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26" name="Shape 24">
            <a:extLst>
              <a:ext uri="{FF2B5EF4-FFF2-40B4-BE49-F238E27FC236}">
                <a16:creationId xmlns:a16="http://schemas.microsoft.com/office/drawing/2014/main" id="{6094E4A5-D50C-E9CA-5CCA-7ED7D059584A}"/>
              </a:ext>
            </a:extLst>
          </p:cNvPr>
          <p:cNvSpPr/>
          <p:nvPr/>
        </p:nvSpPr>
        <p:spPr>
          <a:xfrm>
            <a:off x="4828032" y="2404872"/>
            <a:ext cx="768096" cy="768096"/>
          </a:xfrm>
          <a:prstGeom prst="ellipse">
            <a:avLst/>
          </a:prstGeom>
          <a:solidFill>
            <a:srgbClr val="D4A537"/>
          </a:solidFill>
          <a:ln/>
        </p:spPr>
      </p:sp>
      <p:sp>
        <p:nvSpPr>
          <p:cNvPr id="27" name="Text 25">
            <a:extLst>
              <a:ext uri="{FF2B5EF4-FFF2-40B4-BE49-F238E27FC236}">
                <a16:creationId xmlns:a16="http://schemas.microsoft.com/office/drawing/2014/main" id="{EFC9F0EA-3AB8-98B9-AC2C-D30C4E046B1A}"/>
              </a:ext>
            </a:extLst>
          </p:cNvPr>
          <p:cNvSpPr/>
          <p:nvPr/>
        </p:nvSpPr>
        <p:spPr>
          <a:xfrm>
            <a:off x="4828032" y="2404872"/>
            <a:ext cx="768096" cy="768096"/>
          </a:xfrm>
          <a:prstGeom prst="rect">
            <a:avLst/>
          </a:prstGeom>
          <a:noFill/>
          <a:ln/>
        </p:spPr>
        <p:txBody>
          <a:bodyPr wrap="square" rtlCol="0" anchor="ctr">
            <a:normAutofit/>
          </a:bodyPr>
          <a:lstStyle/>
          <a:p>
            <a:pPr marL="0" indent="0" algn="ctr">
              <a:buNone/>
            </a:pPr>
            <a:r>
              <a:rPr lang="en-US" sz="1800" b="1" dirty="0">
                <a:solidFill>
                  <a:srgbClr val="0A2540"/>
                </a:solidFill>
                <a:latin typeface="Cambria" pitchFamily="34" charset="0"/>
                <a:ea typeface="Cambria" pitchFamily="34" charset="-122"/>
                <a:cs typeface="Cambria" pitchFamily="34" charset="-120"/>
              </a:rPr>
              <a:t>SH</a:t>
            </a:r>
            <a:endParaRPr lang="en-US" sz="1800" dirty="0"/>
          </a:p>
        </p:txBody>
      </p:sp>
      <p:sp>
        <p:nvSpPr>
          <p:cNvPr id="28" name="Text 26">
            <a:extLst>
              <a:ext uri="{FF2B5EF4-FFF2-40B4-BE49-F238E27FC236}">
                <a16:creationId xmlns:a16="http://schemas.microsoft.com/office/drawing/2014/main" id="{D7BA2214-B9C0-4ADD-61DB-ED5E82C51A7B}"/>
              </a:ext>
            </a:extLst>
          </p:cNvPr>
          <p:cNvSpPr/>
          <p:nvPr/>
        </p:nvSpPr>
        <p:spPr>
          <a:xfrm>
            <a:off x="5715000" y="2359152"/>
            <a:ext cx="2743200" cy="292608"/>
          </a:xfrm>
          <a:prstGeom prst="rect">
            <a:avLst/>
          </a:prstGeom>
          <a:noFill/>
          <a:ln/>
        </p:spPr>
        <p:txBody>
          <a:bodyPr wrap="square" rtlCol="0" anchor="ctr"/>
          <a:lstStyle/>
          <a:p>
            <a:pPr marL="0" indent="0" algn="l">
              <a:buNone/>
            </a:pPr>
            <a:r>
              <a:rPr lang="en-US" sz="1300" b="1" dirty="0">
                <a:solidFill>
                  <a:srgbClr val="0E5C8A"/>
                </a:solidFill>
                <a:latin typeface="Cambria" pitchFamily="34" charset="0"/>
                <a:ea typeface="Cambria" pitchFamily="34" charset="-122"/>
                <a:cs typeface="Cambria" pitchFamily="34" charset="-120"/>
              </a:rPr>
              <a:t>Md Sajid Hossain</a:t>
            </a:r>
            <a:endParaRPr lang="en-US" sz="1300" dirty="0"/>
          </a:p>
        </p:txBody>
      </p:sp>
      <p:sp>
        <p:nvSpPr>
          <p:cNvPr id="29" name="Text 27">
            <a:extLst>
              <a:ext uri="{FF2B5EF4-FFF2-40B4-BE49-F238E27FC236}">
                <a16:creationId xmlns:a16="http://schemas.microsoft.com/office/drawing/2014/main" id="{9CDD0B44-977E-E184-6DFD-081ABEB19619}"/>
              </a:ext>
            </a:extLst>
          </p:cNvPr>
          <p:cNvSpPr/>
          <p:nvPr/>
        </p:nvSpPr>
        <p:spPr>
          <a:xfrm>
            <a:off x="5715000" y="2651760"/>
            <a:ext cx="2743200" cy="256032"/>
          </a:xfrm>
          <a:prstGeom prst="rect">
            <a:avLst/>
          </a:prstGeom>
          <a:noFill/>
          <a:ln/>
        </p:spPr>
        <p:txBody>
          <a:bodyPr wrap="square" rtlCol="0" anchor="ctr"/>
          <a:lstStyle/>
          <a:p>
            <a:pPr marL="0" indent="0" algn="l">
              <a:buNone/>
            </a:pPr>
            <a:r>
              <a:rPr lang="en-US" sz="1050" b="1" i="1" dirty="0">
                <a:solidFill>
                  <a:srgbClr val="1A8FB5"/>
                </a:solidFill>
                <a:latin typeface="Calibri" pitchFamily="34" charset="0"/>
                <a:ea typeface="Calibri" pitchFamily="34" charset="-122"/>
                <a:cs typeface="Calibri" pitchFamily="34" charset="-120"/>
              </a:rPr>
              <a:t>Chief Executive Officer</a:t>
            </a:r>
            <a:endParaRPr lang="en-US" sz="1050" dirty="0"/>
          </a:p>
        </p:txBody>
      </p:sp>
      <p:sp>
        <p:nvSpPr>
          <p:cNvPr id="30" name="Text 28">
            <a:extLst>
              <a:ext uri="{FF2B5EF4-FFF2-40B4-BE49-F238E27FC236}">
                <a16:creationId xmlns:a16="http://schemas.microsoft.com/office/drawing/2014/main" id="{31561E2B-B45B-D33E-061E-CDE76A49E3DA}"/>
              </a:ext>
            </a:extLst>
          </p:cNvPr>
          <p:cNvSpPr/>
          <p:nvPr/>
        </p:nvSpPr>
        <p:spPr>
          <a:xfrm>
            <a:off x="5715000" y="2907792"/>
            <a:ext cx="2743200" cy="36576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Leads strategic direction, partnerships, and overall business vision.</a:t>
            </a:r>
            <a:endParaRPr lang="en-US" sz="950" dirty="0"/>
          </a:p>
        </p:txBody>
      </p:sp>
      <p:sp>
        <p:nvSpPr>
          <p:cNvPr id="31" name="Shape 29">
            <a:extLst>
              <a:ext uri="{FF2B5EF4-FFF2-40B4-BE49-F238E27FC236}">
                <a16:creationId xmlns:a16="http://schemas.microsoft.com/office/drawing/2014/main" id="{AF3AABA8-ADCA-5B62-DD7C-98CD9CE67CD3}"/>
              </a:ext>
            </a:extLst>
          </p:cNvPr>
          <p:cNvSpPr/>
          <p:nvPr/>
        </p:nvSpPr>
        <p:spPr>
          <a:xfrm>
            <a:off x="4663440" y="3474720"/>
            <a:ext cx="3931920" cy="1097280"/>
          </a:xfrm>
          <a:prstGeom prst="roundRect">
            <a:avLst>
              <a:gd name="adj" fmla="val 5000"/>
            </a:avLst>
          </a:prstGeom>
          <a:solidFill>
            <a:srgbClr val="FFFFFF"/>
          </a:solidFill>
          <a:ln w="6350">
            <a:solidFill>
              <a:srgbClr val="E2E8F0"/>
            </a:solidFill>
            <a:prstDash val="solid"/>
          </a:ln>
          <a:effectLst>
            <a:outerShdw blurRad="101600" dist="25400" dir="5400000" algn="bl" rotWithShape="0">
              <a:srgbClr val="1A2533">
                <a:alpha val="12000"/>
              </a:srgbClr>
            </a:outerShdw>
          </a:effectLst>
        </p:spPr>
      </p:sp>
      <p:sp>
        <p:nvSpPr>
          <p:cNvPr id="32" name="Shape 30">
            <a:extLst>
              <a:ext uri="{FF2B5EF4-FFF2-40B4-BE49-F238E27FC236}">
                <a16:creationId xmlns:a16="http://schemas.microsoft.com/office/drawing/2014/main" id="{1F5F2C1D-54EA-586F-FAC5-3FC680F0BF32}"/>
              </a:ext>
            </a:extLst>
          </p:cNvPr>
          <p:cNvSpPr/>
          <p:nvPr/>
        </p:nvSpPr>
        <p:spPr>
          <a:xfrm>
            <a:off x="4828032" y="3639312"/>
            <a:ext cx="768096" cy="768096"/>
          </a:xfrm>
          <a:prstGeom prst="ellipse">
            <a:avLst/>
          </a:prstGeom>
          <a:solidFill>
            <a:srgbClr val="D4A537"/>
          </a:solidFill>
          <a:ln/>
        </p:spPr>
      </p:sp>
      <p:sp>
        <p:nvSpPr>
          <p:cNvPr id="33" name="Text 31">
            <a:extLst>
              <a:ext uri="{FF2B5EF4-FFF2-40B4-BE49-F238E27FC236}">
                <a16:creationId xmlns:a16="http://schemas.microsoft.com/office/drawing/2014/main" id="{69A83F2D-979C-D826-CA25-D889DCFB24C0}"/>
              </a:ext>
            </a:extLst>
          </p:cNvPr>
          <p:cNvSpPr/>
          <p:nvPr/>
        </p:nvSpPr>
        <p:spPr>
          <a:xfrm>
            <a:off x="4828032" y="3639312"/>
            <a:ext cx="768096" cy="768096"/>
          </a:xfrm>
          <a:prstGeom prst="rect">
            <a:avLst/>
          </a:prstGeom>
          <a:noFill/>
          <a:ln/>
        </p:spPr>
        <p:txBody>
          <a:bodyPr wrap="square" rtlCol="0" anchor="ctr">
            <a:normAutofit/>
          </a:bodyPr>
          <a:lstStyle/>
          <a:p>
            <a:pPr marL="0" indent="0" algn="ctr">
              <a:buNone/>
            </a:pPr>
            <a:r>
              <a:rPr lang="en-US" sz="1800" b="1" dirty="0">
                <a:solidFill>
                  <a:srgbClr val="0A2540"/>
                </a:solidFill>
                <a:latin typeface="Cambria" pitchFamily="34" charset="0"/>
                <a:ea typeface="Cambria" pitchFamily="34" charset="-122"/>
                <a:cs typeface="Cambria" pitchFamily="34" charset="-120"/>
              </a:rPr>
              <a:t>FA</a:t>
            </a:r>
            <a:endParaRPr lang="en-US" sz="1800" dirty="0"/>
          </a:p>
        </p:txBody>
      </p:sp>
      <p:sp>
        <p:nvSpPr>
          <p:cNvPr id="34" name="Text 32">
            <a:extLst>
              <a:ext uri="{FF2B5EF4-FFF2-40B4-BE49-F238E27FC236}">
                <a16:creationId xmlns:a16="http://schemas.microsoft.com/office/drawing/2014/main" id="{237BD7F0-1957-7935-6A61-7D487F42B714}"/>
              </a:ext>
            </a:extLst>
          </p:cNvPr>
          <p:cNvSpPr/>
          <p:nvPr/>
        </p:nvSpPr>
        <p:spPr>
          <a:xfrm>
            <a:off x="5715000" y="3593592"/>
            <a:ext cx="2743200" cy="292608"/>
          </a:xfrm>
          <a:prstGeom prst="rect">
            <a:avLst/>
          </a:prstGeom>
          <a:noFill/>
          <a:ln/>
        </p:spPr>
        <p:txBody>
          <a:bodyPr wrap="square" rtlCol="0" anchor="ctr"/>
          <a:lstStyle/>
          <a:p>
            <a:pPr marL="0" indent="0" algn="l">
              <a:buNone/>
            </a:pPr>
            <a:r>
              <a:rPr lang="en-US" sz="1300" b="1" dirty="0">
                <a:solidFill>
                  <a:srgbClr val="0E5C8A"/>
                </a:solidFill>
                <a:latin typeface="Cambria" pitchFamily="34" charset="0"/>
                <a:ea typeface="Cambria" pitchFamily="34" charset="-122"/>
                <a:cs typeface="Cambria" pitchFamily="34" charset="-120"/>
              </a:rPr>
              <a:t>Syed Md. Faisal Ahmed</a:t>
            </a:r>
            <a:endParaRPr lang="en-US" sz="1300" dirty="0"/>
          </a:p>
        </p:txBody>
      </p:sp>
      <p:sp>
        <p:nvSpPr>
          <p:cNvPr id="35" name="Text 33">
            <a:extLst>
              <a:ext uri="{FF2B5EF4-FFF2-40B4-BE49-F238E27FC236}">
                <a16:creationId xmlns:a16="http://schemas.microsoft.com/office/drawing/2014/main" id="{316D898C-C661-5736-BF87-40A786335E70}"/>
              </a:ext>
            </a:extLst>
          </p:cNvPr>
          <p:cNvSpPr/>
          <p:nvPr/>
        </p:nvSpPr>
        <p:spPr>
          <a:xfrm>
            <a:off x="5715000" y="3886200"/>
            <a:ext cx="2743200" cy="256032"/>
          </a:xfrm>
          <a:prstGeom prst="rect">
            <a:avLst/>
          </a:prstGeom>
          <a:noFill/>
          <a:ln/>
        </p:spPr>
        <p:txBody>
          <a:bodyPr wrap="square" rtlCol="0" anchor="ctr"/>
          <a:lstStyle/>
          <a:p>
            <a:pPr marL="0" indent="0" algn="l">
              <a:buNone/>
            </a:pPr>
            <a:r>
              <a:rPr lang="en-US" sz="1050" b="1" i="1" dirty="0">
                <a:solidFill>
                  <a:srgbClr val="1A8FB5"/>
                </a:solidFill>
                <a:latin typeface="Calibri" pitchFamily="34" charset="0"/>
                <a:ea typeface="Calibri" pitchFamily="34" charset="-122"/>
                <a:cs typeface="Calibri" pitchFamily="34" charset="-120"/>
              </a:rPr>
              <a:t>Managing Director</a:t>
            </a:r>
            <a:endParaRPr lang="en-US" sz="1050" dirty="0"/>
          </a:p>
        </p:txBody>
      </p:sp>
      <p:sp>
        <p:nvSpPr>
          <p:cNvPr id="36" name="Text 34">
            <a:extLst>
              <a:ext uri="{FF2B5EF4-FFF2-40B4-BE49-F238E27FC236}">
                <a16:creationId xmlns:a16="http://schemas.microsoft.com/office/drawing/2014/main" id="{D0905DFE-4079-71A6-6B15-3DE2F44533D7}"/>
              </a:ext>
            </a:extLst>
          </p:cNvPr>
          <p:cNvSpPr/>
          <p:nvPr/>
        </p:nvSpPr>
        <p:spPr>
          <a:xfrm>
            <a:off x="5715000" y="4142232"/>
            <a:ext cx="2743200" cy="365760"/>
          </a:xfrm>
          <a:prstGeom prst="rect">
            <a:avLst/>
          </a:prstGeom>
          <a:noFill/>
          <a:ln/>
        </p:spPr>
        <p:txBody>
          <a:bodyPr wrap="square" rtlCol="0" anchor="t"/>
          <a:lstStyle/>
          <a:p>
            <a:pPr marL="0" indent="0" algn="l">
              <a:buNone/>
            </a:pPr>
            <a:r>
              <a:rPr lang="en-US" sz="950" dirty="0">
                <a:solidFill>
                  <a:srgbClr val="5B6B7F"/>
                </a:solidFill>
                <a:latin typeface="Calibri" pitchFamily="34" charset="0"/>
                <a:ea typeface="Calibri" pitchFamily="34" charset="-122"/>
                <a:cs typeface="Calibri" pitchFamily="34" charset="-120"/>
              </a:rPr>
              <a:t>Oversees operations, client relations, and service quality.</a:t>
            </a:r>
            <a:endParaRPr lang="en-US" sz="950" dirty="0"/>
          </a:p>
        </p:txBody>
      </p:sp>
    </p:spTree>
    <p:extLst>
      <p:ext uri="{BB962C8B-B14F-4D97-AF65-F5344CB8AC3E}">
        <p14:creationId xmlns:p14="http://schemas.microsoft.com/office/powerpoint/2010/main" val="2589144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537"/>
          </a:solidFill>
          <a:ln/>
        </p:spPr>
      </p:sp>
      <p:sp>
        <p:nvSpPr>
          <p:cNvPr id="3" name="Shape 1"/>
          <p:cNvSpPr/>
          <p:nvPr/>
        </p:nvSpPr>
        <p:spPr>
          <a:xfrm>
            <a:off x="0" y="0"/>
            <a:ext cx="1645920" cy="1645920"/>
          </a:xfrm>
          <a:prstGeom prst="ellipse">
            <a:avLst/>
          </a:prstGeom>
          <a:solidFill>
            <a:srgbClr val="0E5C8A">
              <a:alpha val="12000"/>
            </a:srgbClr>
          </a:solidFill>
          <a:ln/>
        </p:spPr>
      </p:sp>
      <p:sp>
        <p:nvSpPr>
          <p:cNvPr id="4" name="Shape 2"/>
          <p:cNvSpPr/>
          <p:nvPr/>
        </p:nvSpPr>
        <p:spPr>
          <a:xfrm>
            <a:off x="7315200" y="3200400"/>
            <a:ext cx="1828800" cy="1828800"/>
          </a:xfrm>
          <a:prstGeom prst="ellipse">
            <a:avLst/>
          </a:prstGeom>
          <a:solidFill>
            <a:srgbClr val="1A8FB5">
              <a:alpha val="10000"/>
            </a:srgbClr>
          </a:solidFill>
          <a:ln/>
        </p:spPr>
      </p:sp>
      <p:pic>
        <p:nvPicPr>
          <p:cNvPr id="5" name="Image 0" descr="/home/z/my-project/travel_treasure/assets/logo.png"/>
          <p:cNvPicPr>
            <a:picLocks noChangeAspect="1"/>
          </p:cNvPicPr>
          <p:nvPr/>
        </p:nvPicPr>
        <p:blipFill>
          <a:blip r:embed="rId3"/>
          <a:stretch>
            <a:fillRect/>
          </a:stretch>
        </p:blipFill>
        <p:spPr>
          <a:xfrm>
            <a:off x="3749040" y="320040"/>
            <a:ext cx="1645920" cy="1097280"/>
          </a:xfrm>
          <a:prstGeom prst="rect">
            <a:avLst/>
          </a:prstGeom>
        </p:spPr>
      </p:pic>
      <p:sp>
        <p:nvSpPr>
          <p:cNvPr id="6" name="Text 3"/>
          <p:cNvSpPr/>
          <p:nvPr/>
        </p:nvSpPr>
        <p:spPr>
          <a:xfrm>
            <a:off x="457200" y="1508760"/>
            <a:ext cx="8229600" cy="411480"/>
          </a:xfrm>
          <a:prstGeom prst="rect">
            <a:avLst/>
          </a:prstGeom>
          <a:noFill/>
          <a:ln/>
        </p:spPr>
        <p:txBody>
          <a:bodyPr wrap="square" rtlCol="0" anchor="ctr">
            <a:normAutofit fontScale="92500" lnSpcReduction="20000"/>
          </a:bodyPr>
          <a:lstStyle/>
          <a:p>
            <a:pPr marL="0" indent="0" algn="ctr">
              <a:buNone/>
            </a:pPr>
            <a:r>
              <a:rPr lang="en-US" sz="2600" b="1" dirty="0">
                <a:solidFill>
                  <a:srgbClr val="FFFFFF"/>
                </a:solidFill>
                <a:latin typeface="Cambria" pitchFamily="34" charset="0"/>
                <a:ea typeface="Cambria" pitchFamily="34" charset="-122"/>
                <a:cs typeface="Cambria" pitchFamily="34" charset="-120"/>
              </a:rPr>
              <a:t>Get in Touch</a:t>
            </a:r>
            <a:endParaRPr lang="en-US" sz="2600" dirty="0"/>
          </a:p>
        </p:txBody>
      </p:sp>
      <p:sp>
        <p:nvSpPr>
          <p:cNvPr id="7" name="Text 4"/>
          <p:cNvSpPr/>
          <p:nvPr/>
        </p:nvSpPr>
        <p:spPr>
          <a:xfrm>
            <a:off x="457200" y="1965960"/>
            <a:ext cx="8229600" cy="320040"/>
          </a:xfrm>
          <a:prstGeom prst="rect">
            <a:avLst/>
          </a:prstGeom>
          <a:noFill/>
          <a:ln/>
        </p:spPr>
        <p:txBody>
          <a:bodyPr wrap="square" rtlCol="0" anchor="ctr"/>
          <a:lstStyle/>
          <a:p>
            <a:pPr marL="0" indent="0" algn="ctr">
              <a:buNone/>
            </a:pPr>
            <a:r>
              <a:rPr lang="en-US" sz="1300" i="1" dirty="0">
                <a:solidFill>
                  <a:srgbClr val="D4A537"/>
                </a:solidFill>
                <a:latin typeface="Calibri" pitchFamily="34" charset="0"/>
                <a:ea typeface="Calibri" pitchFamily="34" charset="-122"/>
                <a:cs typeface="Calibri" pitchFamily="34" charset="-120"/>
              </a:rPr>
              <a:t>Your journey begins with a conversation.</a:t>
            </a:r>
            <a:endParaRPr lang="en-US" sz="1300" dirty="0"/>
          </a:p>
        </p:txBody>
      </p:sp>
      <p:sp>
        <p:nvSpPr>
          <p:cNvPr id="8" name="Shape 5"/>
          <p:cNvSpPr/>
          <p:nvPr/>
        </p:nvSpPr>
        <p:spPr>
          <a:xfrm>
            <a:off x="434340" y="2606040"/>
            <a:ext cx="1965960" cy="1554480"/>
          </a:xfrm>
          <a:prstGeom prst="roundRect">
            <a:avLst>
              <a:gd name="adj" fmla="val 4706"/>
            </a:avLst>
          </a:prstGeom>
          <a:solidFill>
            <a:srgbClr val="0F2E4F"/>
          </a:solidFill>
          <a:ln w="6350">
            <a:solidFill>
              <a:srgbClr val="0E5C8A"/>
            </a:solidFill>
            <a:prstDash val="solid"/>
          </a:ln>
        </p:spPr>
      </p:sp>
      <p:sp>
        <p:nvSpPr>
          <p:cNvPr id="9" name="Shape 6"/>
          <p:cNvSpPr/>
          <p:nvPr/>
        </p:nvSpPr>
        <p:spPr>
          <a:xfrm>
            <a:off x="1143000" y="2788920"/>
            <a:ext cx="548640" cy="548640"/>
          </a:xfrm>
          <a:prstGeom prst="ellipse">
            <a:avLst/>
          </a:prstGeom>
          <a:solidFill>
            <a:srgbClr val="D4A537"/>
          </a:solidFill>
          <a:ln/>
        </p:spPr>
      </p:sp>
      <p:sp>
        <p:nvSpPr>
          <p:cNvPr id="10" name="Text 7"/>
          <p:cNvSpPr/>
          <p:nvPr/>
        </p:nvSpPr>
        <p:spPr>
          <a:xfrm>
            <a:off x="1143000" y="2788920"/>
            <a:ext cx="548640" cy="548640"/>
          </a:xfrm>
          <a:prstGeom prst="rect">
            <a:avLst/>
          </a:prstGeom>
          <a:noFill/>
          <a:ln/>
        </p:spPr>
        <p:txBody>
          <a:bodyPr wrap="square" rtlCol="0" anchor="ctr">
            <a:normAutofit/>
          </a:bodyPr>
          <a:lstStyle/>
          <a:p>
            <a:pPr marL="0" indent="0" algn="ctr">
              <a:buNone/>
            </a:pPr>
            <a:r>
              <a:rPr lang="en-US" sz="2000" dirty="0">
                <a:solidFill>
                  <a:schemeClr val="bg1"/>
                </a:solidFill>
                <a:latin typeface="DejaVu Sans" pitchFamily="34" charset="0"/>
                <a:ea typeface="DejaVu Sans" pitchFamily="34" charset="-122"/>
                <a:cs typeface="DejaVu Sans" pitchFamily="34" charset="-120"/>
              </a:rPr>
              <a:t>⌂</a:t>
            </a:r>
            <a:endParaRPr lang="en-US" sz="2000" dirty="0">
              <a:solidFill>
                <a:schemeClr val="bg1"/>
              </a:solidFill>
            </a:endParaRPr>
          </a:p>
        </p:txBody>
      </p:sp>
      <p:sp>
        <p:nvSpPr>
          <p:cNvPr id="11" name="Text 8"/>
          <p:cNvSpPr/>
          <p:nvPr/>
        </p:nvSpPr>
        <p:spPr>
          <a:xfrm>
            <a:off x="434340" y="3429000"/>
            <a:ext cx="1965960" cy="228600"/>
          </a:xfrm>
          <a:prstGeom prst="rect">
            <a:avLst/>
          </a:prstGeom>
          <a:noFill/>
          <a:ln/>
        </p:spPr>
        <p:txBody>
          <a:bodyPr wrap="square" rtlCol="0" anchor="ctr"/>
          <a:lstStyle/>
          <a:p>
            <a:pPr marL="0" indent="0" algn="ctr">
              <a:buNone/>
            </a:pPr>
            <a:r>
              <a:rPr lang="en-US" sz="1000" b="1" kern="0" spc="400" dirty="0">
                <a:solidFill>
                  <a:srgbClr val="D4A537"/>
                </a:solidFill>
                <a:latin typeface="Calibri" pitchFamily="34" charset="0"/>
                <a:ea typeface="Calibri" pitchFamily="34" charset="-122"/>
                <a:cs typeface="Calibri" pitchFamily="34" charset="-120"/>
              </a:rPr>
              <a:t>ADDRESS</a:t>
            </a:r>
            <a:endParaRPr lang="en-US" sz="1000" dirty="0"/>
          </a:p>
        </p:txBody>
      </p:sp>
      <p:sp>
        <p:nvSpPr>
          <p:cNvPr id="12" name="Text 9"/>
          <p:cNvSpPr/>
          <p:nvPr/>
        </p:nvSpPr>
        <p:spPr>
          <a:xfrm>
            <a:off x="525780" y="3657600"/>
            <a:ext cx="1783080" cy="457200"/>
          </a:xfrm>
          <a:prstGeom prst="rect">
            <a:avLst/>
          </a:prstGeom>
          <a:noFill/>
          <a:ln/>
        </p:spPr>
        <p:txBody>
          <a:bodyPr wrap="square" rtlCol="0" anchor="t">
            <a:normAutofit fontScale="85000" lnSpcReduction="10000"/>
          </a:bodyPr>
          <a:lstStyle/>
          <a:p>
            <a:pPr marL="0" indent="0" algn="ctr">
              <a:buNone/>
            </a:pPr>
            <a:r>
              <a:rPr lang="en-US" sz="950" dirty="0">
                <a:solidFill>
                  <a:srgbClr val="FFFFFF"/>
                </a:solidFill>
                <a:latin typeface="Calibri" pitchFamily="34" charset="0"/>
                <a:ea typeface="Calibri" pitchFamily="34" charset="-122"/>
                <a:cs typeface="Calibri" pitchFamily="34" charset="-120"/>
              </a:rPr>
              <a:t>House 2, Road-4, Block-A,</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Section-11, Mohammad Ali Tower,</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4th Floor, Dhaka-1216, Bangladesh</a:t>
            </a:r>
            <a:endParaRPr lang="en-US" sz="950" dirty="0"/>
          </a:p>
        </p:txBody>
      </p:sp>
      <p:sp>
        <p:nvSpPr>
          <p:cNvPr id="13" name="Shape 10"/>
          <p:cNvSpPr/>
          <p:nvPr/>
        </p:nvSpPr>
        <p:spPr>
          <a:xfrm>
            <a:off x="2537460" y="2606040"/>
            <a:ext cx="1965960" cy="1554480"/>
          </a:xfrm>
          <a:prstGeom prst="roundRect">
            <a:avLst>
              <a:gd name="adj" fmla="val 4706"/>
            </a:avLst>
          </a:prstGeom>
          <a:solidFill>
            <a:srgbClr val="0F2E4F"/>
          </a:solidFill>
          <a:ln w="6350">
            <a:solidFill>
              <a:srgbClr val="0E5C8A"/>
            </a:solidFill>
            <a:prstDash val="solid"/>
          </a:ln>
        </p:spPr>
      </p:sp>
      <p:sp>
        <p:nvSpPr>
          <p:cNvPr id="14" name="Shape 11"/>
          <p:cNvSpPr/>
          <p:nvPr/>
        </p:nvSpPr>
        <p:spPr>
          <a:xfrm>
            <a:off x="3246120" y="2788920"/>
            <a:ext cx="548640" cy="548640"/>
          </a:xfrm>
          <a:prstGeom prst="ellipse">
            <a:avLst/>
          </a:prstGeom>
          <a:solidFill>
            <a:srgbClr val="D4A537"/>
          </a:solidFill>
          <a:ln/>
        </p:spPr>
      </p:sp>
      <p:sp>
        <p:nvSpPr>
          <p:cNvPr id="15" name="Text 12"/>
          <p:cNvSpPr/>
          <p:nvPr/>
        </p:nvSpPr>
        <p:spPr>
          <a:xfrm>
            <a:off x="3246120" y="2788920"/>
            <a:ext cx="548640" cy="548640"/>
          </a:xfrm>
          <a:prstGeom prst="rect">
            <a:avLst/>
          </a:prstGeom>
          <a:noFill/>
          <a:ln/>
        </p:spPr>
        <p:txBody>
          <a:bodyPr wrap="square" rtlCol="0" anchor="ctr">
            <a:normAutofit/>
          </a:bodyPr>
          <a:lstStyle/>
          <a:p>
            <a:pPr marL="0" indent="0" algn="ctr">
              <a:buNone/>
            </a:pPr>
            <a:r>
              <a:rPr lang="en-US" sz="2000" dirty="0">
                <a:solidFill>
                  <a:schemeClr val="bg1"/>
                </a:solidFill>
                <a:latin typeface="DejaVu Sans" pitchFamily="34" charset="0"/>
                <a:ea typeface="DejaVu Sans" pitchFamily="34" charset="-122"/>
                <a:cs typeface="DejaVu Sans" pitchFamily="34" charset="-120"/>
              </a:rPr>
              <a:t>✆</a:t>
            </a:r>
            <a:endParaRPr lang="en-US" sz="2000" dirty="0">
              <a:solidFill>
                <a:schemeClr val="bg1"/>
              </a:solidFill>
            </a:endParaRPr>
          </a:p>
        </p:txBody>
      </p:sp>
      <p:sp>
        <p:nvSpPr>
          <p:cNvPr id="16" name="Text 13"/>
          <p:cNvSpPr/>
          <p:nvPr/>
        </p:nvSpPr>
        <p:spPr>
          <a:xfrm>
            <a:off x="2537460" y="3429000"/>
            <a:ext cx="1965960" cy="228600"/>
          </a:xfrm>
          <a:prstGeom prst="rect">
            <a:avLst/>
          </a:prstGeom>
          <a:noFill/>
          <a:ln/>
        </p:spPr>
        <p:txBody>
          <a:bodyPr wrap="square" rtlCol="0" anchor="ctr"/>
          <a:lstStyle/>
          <a:p>
            <a:pPr marL="0" indent="0" algn="ctr">
              <a:buNone/>
            </a:pPr>
            <a:r>
              <a:rPr lang="en-US" sz="1000" b="1" kern="0" spc="400" dirty="0">
                <a:solidFill>
                  <a:srgbClr val="D4A537"/>
                </a:solidFill>
                <a:latin typeface="Calibri" pitchFamily="34" charset="0"/>
                <a:ea typeface="Calibri" pitchFamily="34" charset="-122"/>
                <a:cs typeface="Calibri" pitchFamily="34" charset="-120"/>
              </a:rPr>
              <a:t>CALL</a:t>
            </a:r>
            <a:endParaRPr lang="en-US" sz="1000" dirty="0"/>
          </a:p>
        </p:txBody>
      </p:sp>
      <p:sp>
        <p:nvSpPr>
          <p:cNvPr id="17" name="Text 14"/>
          <p:cNvSpPr/>
          <p:nvPr/>
        </p:nvSpPr>
        <p:spPr>
          <a:xfrm>
            <a:off x="2628900" y="3657600"/>
            <a:ext cx="1783080" cy="457200"/>
          </a:xfrm>
          <a:prstGeom prst="rect">
            <a:avLst/>
          </a:prstGeom>
          <a:noFill/>
          <a:ln/>
        </p:spPr>
        <p:txBody>
          <a:bodyPr wrap="square" rtlCol="0" anchor="t">
            <a:normAutofit/>
          </a:bodyPr>
          <a:lstStyle/>
          <a:p>
            <a:pPr marL="0" indent="0" algn="ctr">
              <a:buNone/>
            </a:pPr>
            <a:r>
              <a:rPr lang="en-US" sz="950" dirty="0">
                <a:solidFill>
                  <a:srgbClr val="FFFFFF"/>
                </a:solidFill>
                <a:latin typeface="Calibri" pitchFamily="34" charset="0"/>
                <a:ea typeface="Calibri" pitchFamily="34" charset="-122"/>
                <a:cs typeface="Calibri" pitchFamily="34" charset="-120"/>
              </a:rPr>
              <a:t>+88 01714 400844</a:t>
            </a:r>
            <a:endParaRPr lang="en-US" sz="950" dirty="0"/>
          </a:p>
        </p:txBody>
      </p:sp>
      <p:sp>
        <p:nvSpPr>
          <p:cNvPr id="18" name="Shape 15"/>
          <p:cNvSpPr/>
          <p:nvPr/>
        </p:nvSpPr>
        <p:spPr>
          <a:xfrm>
            <a:off x="4640580" y="2606040"/>
            <a:ext cx="1965960" cy="1554480"/>
          </a:xfrm>
          <a:prstGeom prst="roundRect">
            <a:avLst>
              <a:gd name="adj" fmla="val 4706"/>
            </a:avLst>
          </a:prstGeom>
          <a:solidFill>
            <a:srgbClr val="0F2E4F"/>
          </a:solidFill>
          <a:ln w="6350">
            <a:solidFill>
              <a:srgbClr val="0E5C8A"/>
            </a:solidFill>
            <a:prstDash val="solid"/>
          </a:ln>
        </p:spPr>
      </p:sp>
      <p:sp>
        <p:nvSpPr>
          <p:cNvPr id="19" name="Shape 16"/>
          <p:cNvSpPr/>
          <p:nvPr/>
        </p:nvSpPr>
        <p:spPr>
          <a:xfrm>
            <a:off x="5349240" y="2788920"/>
            <a:ext cx="548640" cy="548640"/>
          </a:xfrm>
          <a:prstGeom prst="ellipse">
            <a:avLst/>
          </a:prstGeom>
          <a:solidFill>
            <a:srgbClr val="D4A537"/>
          </a:solidFill>
          <a:ln/>
        </p:spPr>
      </p:sp>
      <p:sp>
        <p:nvSpPr>
          <p:cNvPr id="20" name="Text 17"/>
          <p:cNvSpPr/>
          <p:nvPr/>
        </p:nvSpPr>
        <p:spPr>
          <a:xfrm>
            <a:off x="5349240" y="2788920"/>
            <a:ext cx="548640" cy="548640"/>
          </a:xfrm>
          <a:prstGeom prst="rect">
            <a:avLst/>
          </a:prstGeom>
          <a:noFill/>
          <a:ln/>
        </p:spPr>
        <p:txBody>
          <a:bodyPr wrap="square" rtlCol="0" anchor="ctr">
            <a:normAutofit/>
          </a:bodyPr>
          <a:lstStyle/>
          <a:p>
            <a:pPr marL="0" indent="0" algn="ctr">
              <a:buNone/>
            </a:pPr>
            <a:r>
              <a:rPr lang="en-US" sz="2000" dirty="0">
                <a:solidFill>
                  <a:schemeClr val="bg1"/>
                </a:solidFill>
                <a:latin typeface="DejaVu Sans" pitchFamily="34" charset="0"/>
                <a:ea typeface="DejaVu Sans" pitchFamily="34" charset="-122"/>
                <a:cs typeface="DejaVu Sans" pitchFamily="34" charset="-120"/>
              </a:rPr>
              <a:t>✉</a:t>
            </a:r>
            <a:endParaRPr lang="en-US" sz="2000" dirty="0">
              <a:solidFill>
                <a:schemeClr val="bg1"/>
              </a:solidFill>
            </a:endParaRPr>
          </a:p>
        </p:txBody>
      </p:sp>
      <p:sp>
        <p:nvSpPr>
          <p:cNvPr id="21" name="Text 18"/>
          <p:cNvSpPr/>
          <p:nvPr/>
        </p:nvSpPr>
        <p:spPr>
          <a:xfrm>
            <a:off x="4640580" y="3429000"/>
            <a:ext cx="1965960" cy="228600"/>
          </a:xfrm>
          <a:prstGeom prst="rect">
            <a:avLst/>
          </a:prstGeom>
          <a:noFill/>
          <a:ln/>
        </p:spPr>
        <p:txBody>
          <a:bodyPr wrap="square" rtlCol="0" anchor="ctr"/>
          <a:lstStyle/>
          <a:p>
            <a:pPr marL="0" indent="0" algn="ctr">
              <a:buNone/>
            </a:pPr>
            <a:r>
              <a:rPr lang="en-US" sz="1000" b="1" kern="0" spc="400" dirty="0">
                <a:solidFill>
                  <a:srgbClr val="D4A537"/>
                </a:solidFill>
                <a:latin typeface="Calibri" pitchFamily="34" charset="0"/>
                <a:ea typeface="Calibri" pitchFamily="34" charset="-122"/>
                <a:cs typeface="Calibri" pitchFamily="34" charset="-120"/>
              </a:rPr>
              <a:t>EMAIL</a:t>
            </a:r>
            <a:endParaRPr lang="en-US" sz="1000" dirty="0"/>
          </a:p>
        </p:txBody>
      </p:sp>
      <p:sp>
        <p:nvSpPr>
          <p:cNvPr id="22" name="Text 19"/>
          <p:cNvSpPr/>
          <p:nvPr/>
        </p:nvSpPr>
        <p:spPr>
          <a:xfrm>
            <a:off x="4640580" y="3657600"/>
            <a:ext cx="1965960" cy="457200"/>
          </a:xfrm>
          <a:prstGeom prst="rect">
            <a:avLst/>
          </a:prstGeom>
          <a:noFill/>
          <a:ln/>
        </p:spPr>
        <p:txBody>
          <a:bodyPr wrap="square" rtlCol="0" anchor="t">
            <a:normAutofit/>
          </a:bodyPr>
          <a:lstStyle/>
          <a:p>
            <a:pPr marL="0" indent="0" algn="ctr">
              <a:buNone/>
            </a:pPr>
            <a:r>
              <a:rPr lang="en-US" sz="950" dirty="0">
                <a:solidFill>
                  <a:srgbClr val="FFFFFF"/>
                </a:solidFill>
                <a:latin typeface="Calibri" pitchFamily="34" charset="0"/>
                <a:ea typeface="Calibri" pitchFamily="34" charset="-122"/>
                <a:cs typeface="Calibri" pitchFamily="34" charset="-120"/>
              </a:rPr>
              <a:t>Traveltreasure121@gmail.com</a:t>
            </a:r>
            <a:endParaRPr lang="en-US" sz="950" dirty="0"/>
          </a:p>
        </p:txBody>
      </p:sp>
      <p:sp>
        <p:nvSpPr>
          <p:cNvPr id="23" name="Shape 20"/>
          <p:cNvSpPr/>
          <p:nvPr/>
        </p:nvSpPr>
        <p:spPr>
          <a:xfrm>
            <a:off x="6743700" y="2606040"/>
            <a:ext cx="1965960" cy="1554480"/>
          </a:xfrm>
          <a:prstGeom prst="roundRect">
            <a:avLst>
              <a:gd name="adj" fmla="val 4706"/>
            </a:avLst>
          </a:prstGeom>
          <a:solidFill>
            <a:srgbClr val="0F2E4F"/>
          </a:solidFill>
          <a:ln w="6350">
            <a:solidFill>
              <a:srgbClr val="0E5C8A"/>
            </a:solidFill>
            <a:prstDash val="solid"/>
          </a:ln>
        </p:spPr>
      </p:sp>
      <p:sp>
        <p:nvSpPr>
          <p:cNvPr id="24" name="Shape 21"/>
          <p:cNvSpPr/>
          <p:nvPr/>
        </p:nvSpPr>
        <p:spPr>
          <a:xfrm>
            <a:off x="7452360" y="2788920"/>
            <a:ext cx="548640" cy="548640"/>
          </a:xfrm>
          <a:prstGeom prst="ellipse">
            <a:avLst/>
          </a:prstGeom>
          <a:solidFill>
            <a:srgbClr val="D4A537"/>
          </a:solidFill>
          <a:ln/>
        </p:spPr>
      </p:sp>
      <p:sp>
        <p:nvSpPr>
          <p:cNvPr id="25" name="Text 22"/>
          <p:cNvSpPr/>
          <p:nvPr/>
        </p:nvSpPr>
        <p:spPr>
          <a:xfrm>
            <a:off x="7452360" y="2788920"/>
            <a:ext cx="548640" cy="548640"/>
          </a:xfrm>
          <a:prstGeom prst="rect">
            <a:avLst/>
          </a:prstGeom>
          <a:noFill/>
          <a:ln/>
        </p:spPr>
        <p:txBody>
          <a:bodyPr wrap="square" rtlCol="0" anchor="ctr">
            <a:normAutofit/>
          </a:bodyPr>
          <a:lstStyle/>
          <a:p>
            <a:pPr marL="0" indent="0" algn="ctr">
              <a:buNone/>
            </a:pPr>
            <a:endParaRPr lang="en-US" sz="2000" dirty="0"/>
          </a:p>
        </p:txBody>
      </p:sp>
      <p:sp>
        <p:nvSpPr>
          <p:cNvPr id="26" name="Text 23"/>
          <p:cNvSpPr/>
          <p:nvPr/>
        </p:nvSpPr>
        <p:spPr>
          <a:xfrm>
            <a:off x="6743700" y="3429000"/>
            <a:ext cx="1965960" cy="228600"/>
          </a:xfrm>
          <a:prstGeom prst="rect">
            <a:avLst/>
          </a:prstGeom>
          <a:noFill/>
          <a:ln/>
        </p:spPr>
        <p:txBody>
          <a:bodyPr wrap="square" rtlCol="0" anchor="ctr"/>
          <a:lstStyle/>
          <a:p>
            <a:pPr marL="0" indent="0" algn="ctr">
              <a:buNone/>
            </a:pPr>
            <a:r>
              <a:rPr lang="en-US" sz="1000" b="1" kern="0" spc="400" dirty="0">
                <a:solidFill>
                  <a:srgbClr val="D4A537"/>
                </a:solidFill>
                <a:latin typeface="Calibri" pitchFamily="34" charset="0"/>
                <a:ea typeface="Calibri" pitchFamily="34" charset="-122"/>
                <a:cs typeface="Calibri" pitchFamily="34" charset="-120"/>
              </a:rPr>
              <a:t>WEB</a:t>
            </a:r>
            <a:endParaRPr lang="en-US" sz="1000" dirty="0"/>
          </a:p>
        </p:txBody>
      </p:sp>
      <p:sp>
        <p:nvSpPr>
          <p:cNvPr id="27" name="Text 24"/>
          <p:cNvSpPr/>
          <p:nvPr/>
        </p:nvSpPr>
        <p:spPr>
          <a:xfrm>
            <a:off x="6835140" y="3657600"/>
            <a:ext cx="1783080" cy="457200"/>
          </a:xfrm>
          <a:prstGeom prst="rect">
            <a:avLst/>
          </a:prstGeom>
          <a:noFill/>
          <a:ln/>
        </p:spPr>
        <p:txBody>
          <a:bodyPr wrap="square" rtlCol="0" anchor="t">
            <a:normAutofit/>
          </a:bodyPr>
          <a:lstStyle/>
          <a:p>
            <a:pPr marL="0" indent="0" algn="ctr">
              <a:buNone/>
            </a:pPr>
            <a:r>
              <a:rPr lang="en-US" sz="950" dirty="0">
                <a:solidFill>
                  <a:srgbClr val="FFFFFF"/>
                </a:solidFill>
                <a:latin typeface="Calibri" pitchFamily="34" charset="0"/>
                <a:ea typeface="Calibri" pitchFamily="34" charset="-122"/>
                <a:cs typeface="Calibri" pitchFamily="34" charset="-120"/>
              </a:rPr>
              <a:t>www.traveltreasure.online</a:t>
            </a:r>
            <a:endParaRPr lang="en-US" sz="950" dirty="0"/>
          </a:p>
        </p:txBody>
      </p:sp>
      <p:pic>
        <p:nvPicPr>
          <p:cNvPr id="30" name="Graphic 29" descr="Earth globe Africa and Europe">
            <a:extLst>
              <a:ext uri="{FF2B5EF4-FFF2-40B4-BE49-F238E27FC236}">
                <a16:creationId xmlns:a16="http://schemas.microsoft.com/office/drawing/2014/main" id="{F2D330EF-2264-715C-A1C0-A1310892A9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56990" y="2893550"/>
            <a:ext cx="339380" cy="3393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1358</Words>
  <Application>Microsoft Office PowerPoint</Application>
  <PresentationFormat>On-screen Show (16:9)</PresentationFormat>
  <Paragraphs>214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(Body)</vt:lpstr>
      <vt:lpstr>Cambria</vt:lpstr>
      <vt:lpstr>DejaVu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 Treasure — Company Profile</dc:title>
  <dc:subject>PptxGenJS Presentation</dc:subject>
  <dc:creator>Travel Treasure</dc:creator>
  <cp:lastModifiedBy>Dawod Hossen</cp:lastModifiedBy>
  <cp:revision>3</cp:revision>
  <dcterms:created xsi:type="dcterms:W3CDTF">2026-08-22T05:52:59Z</dcterms:created>
  <dcterms:modified xsi:type="dcterms:W3CDTF">2026-08-22T09:56:00Z</dcterms:modified>
</cp:coreProperties>
</file>